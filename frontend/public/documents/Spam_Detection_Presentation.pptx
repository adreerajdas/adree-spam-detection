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Inter" panose="020B0604020202020204" charset="0"/>
      <p:regular r:id="rId13"/>
    </p:embeddedFont>
    <p:embeddedFont>
      <p:font typeface="Inter Bold" panose="020B0604020202020204" charset="0"/>
      <p:regular r:id="rId14"/>
    </p:embeddedFont>
    <p:embeddedFont>
      <p:font typeface="Inter Light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696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01.09.2025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2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3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3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4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6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6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6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7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10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2848624" y="402430"/>
            <a:ext cx="2457780" cy="2425155"/>
            <a:chOff x="0" y="0"/>
            <a:chExt cx="3277040" cy="32335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76981" cy="3233547"/>
            </a:xfrm>
            <a:custGeom>
              <a:avLst/>
              <a:gdLst/>
              <a:ahLst/>
              <a:cxnLst/>
              <a:rect l="l" t="t" r="r" b="b"/>
              <a:pathLst>
                <a:path w="3276981" h="3233547">
                  <a:moveTo>
                    <a:pt x="0" y="0"/>
                  </a:moveTo>
                  <a:lnTo>
                    <a:pt x="3276981" y="0"/>
                  </a:lnTo>
                  <a:lnTo>
                    <a:pt x="3276981" y="3233547"/>
                  </a:lnTo>
                  <a:lnTo>
                    <a:pt x="0" y="32335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5306405" y="0"/>
            <a:ext cx="2981595" cy="2981595"/>
            <a:chOff x="0" y="0"/>
            <a:chExt cx="3975460" cy="39754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975481" cy="3975481"/>
            </a:xfrm>
            <a:custGeom>
              <a:avLst/>
              <a:gdLst/>
              <a:ahLst/>
              <a:cxnLst/>
              <a:rect l="l" t="t" r="r" b="b"/>
              <a:pathLst>
                <a:path w="3975481" h="3975481">
                  <a:moveTo>
                    <a:pt x="0" y="0"/>
                  </a:moveTo>
                  <a:lnTo>
                    <a:pt x="3975481" y="0"/>
                  </a:lnTo>
                  <a:lnTo>
                    <a:pt x="3975481" y="3975481"/>
                  </a:lnTo>
                  <a:lnTo>
                    <a:pt x="0" y="39754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943421" y="831056"/>
            <a:ext cx="11264801" cy="918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25"/>
              </a:lnSpc>
            </a:pPr>
            <a:r>
              <a:rPr lang="en-US" sz="5250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Email Spam Detection with Python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1864313"/>
            <a:ext cx="6996199" cy="658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795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The Internship Project Report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43199" y="2833639"/>
            <a:ext cx="16401157" cy="633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55"/>
              </a:lnSpc>
            </a:pPr>
            <a:r>
              <a:rPr lang="en-US" sz="266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Submitted By: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26907" y="3543413"/>
            <a:ext cx="4622696" cy="702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47"/>
              </a:lnSpc>
            </a:pPr>
            <a:r>
              <a:rPr lang="en-US" sz="296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Adreeraj Das (Roll No: 25)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215604" y="4210050"/>
            <a:ext cx="7871818" cy="484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73"/>
              </a:lnSpc>
            </a:pPr>
            <a:r>
              <a:rPr lang="en-US" sz="206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Reg No: D232431501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26907" y="4663594"/>
            <a:ext cx="7871818" cy="702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47"/>
              </a:lnSpc>
            </a:pPr>
            <a:r>
              <a:rPr lang="en-US" sz="296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Ankit Shaw (Roll No: 26)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15604" y="5353050"/>
            <a:ext cx="7871818" cy="484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3"/>
              </a:lnSpc>
            </a:pPr>
            <a:r>
              <a:rPr lang="en-US" sz="206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Reg No: D232431503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-2692628" y="4512787"/>
            <a:ext cx="18788002" cy="630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363"/>
              </a:lnSpc>
            </a:pPr>
            <a:r>
              <a:rPr lang="en-US" sz="2666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Under the supervision of: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144000" y="5128649"/>
            <a:ext cx="7871818" cy="702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847"/>
              </a:lnSpc>
            </a:pPr>
            <a:r>
              <a:rPr lang="en-US" sz="296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Mr. Dhrubojyoti Sarkar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604479" y="5816436"/>
            <a:ext cx="7871818" cy="702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843"/>
              </a:lnSpc>
            </a:pPr>
            <a:r>
              <a:rPr lang="en-US" sz="296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Mr. Soumyajit Das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3421" y="7399436"/>
            <a:ext cx="16401157" cy="679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84"/>
              </a:lnSpc>
            </a:pPr>
            <a:r>
              <a:rPr lang="en-US" sz="286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Organisation: CMC Computer Education, Singur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3421" y="8152805"/>
            <a:ext cx="16401157" cy="633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55"/>
              </a:lnSpc>
            </a:pPr>
            <a:r>
              <a:rPr lang="en-US" sz="266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Institute: Technique Polytechnic Institute, Hooghly – 712102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43421" y="8925222"/>
            <a:ext cx="16401157" cy="621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3"/>
              </a:lnSpc>
            </a:pPr>
            <a:r>
              <a:rPr lang="en-US" sz="206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Session: 2025–26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8186291" y="402282"/>
            <a:ext cx="1915417" cy="258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4"/>
              </a:lnSpc>
            </a:pPr>
            <a:r>
              <a:rPr lang="en-US" sz="1500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Chapter 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36228" y="756642"/>
            <a:ext cx="9450438" cy="717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87"/>
              </a:lnSpc>
            </a:pPr>
            <a:r>
              <a:rPr lang="en-US" sz="4123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Introduction: The Challenge of Spam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36227" y="1657648"/>
            <a:ext cx="8540651" cy="24023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14"/>
              </a:lnSpc>
            </a:pPr>
            <a:r>
              <a:rPr lang="en-US" sz="292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 the modern digital landscape, email remains a cornerstone of communication, serving as a primary channel for personal, professional, and commercial interactions.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56035" y="4991100"/>
            <a:ext cx="8420844" cy="83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37"/>
              </a:lnSpc>
            </a:pPr>
            <a:r>
              <a:rPr lang="en-US" sz="1986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However, its ubiquity has made it a prime target for malicious activities.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681838" y="2178841"/>
            <a:ext cx="7079474" cy="7079474"/>
            <a:chOff x="0" y="0"/>
            <a:chExt cx="9439299" cy="9439299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9439275" cy="9439275"/>
            </a:xfrm>
            <a:custGeom>
              <a:avLst/>
              <a:gdLst/>
              <a:ahLst/>
              <a:cxnLst/>
              <a:rect l="l" t="t" r="r" b="b"/>
              <a:pathLst>
                <a:path w="9439275" h="9439275">
                  <a:moveTo>
                    <a:pt x="0" y="0"/>
                  </a:moveTo>
                  <a:lnTo>
                    <a:pt x="9439275" y="0"/>
                  </a:lnTo>
                  <a:lnTo>
                    <a:pt x="9439275" y="9439275"/>
                  </a:lnTo>
                  <a:lnTo>
                    <a:pt x="0" y="94392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526702" y="10632727"/>
            <a:ext cx="8550211" cy="1537621"/>
          </a:xfrm>
          <a:custGeom>
            <a:avLst/>
            <a:gdLst/>
            <a:ahLst/>
            <a:cxnLst/>
            <a:rect l="l" t="t" r="r" b="b"/>
            <a:pathLst>
              <a:path w="8550211" h="1537621">
                <a:moveTo>
                  <a:pt x="0" y="0"/>
                </a:moveTo>
                <a:lnTo>
                  <a:pt x="8550211" y="0"/>
                </a:lnTo>
                <a:lnTo>
                  <a:pt x="8550211" y="1537621"/>
                </a:lnTo>
                <a:lnTo>
                  <a:pt x="0" y="15376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536228" y="10642252"/>
            <a:ext cx="76200" cy="1518476"/>
            <a:chOff x="0" y="0"/>
            <a:chExt cx="101600" cy="202463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1600" cy="2024634"/>
            </a:xfrm>
            <a:custGeom>
              <a:avLst/>
              <a:gdLst/>
              <a:ahLst/>
              <a:cxnLst/>
              <a:rect l="l" t="t" r="r" b="b"/>
              <a:pathLst>
                <a:path w="101600" h="2024634">
                  <a:moveTo>
                    <a:pt x="0" y="50800"/>
                  </a:moveTo>
                  <a:cubicBezTo>
                    <a:pt x="0" y="22733"/>
                    <a:pt x="22733" y="0"/>
                    <a:pt x="50800" y="0"/>
                  </a:cubicBezTo>
                  <a:cubicBezTo>
                    <a:pt x="78867" y="0"/>
                    <a:pt x="101600" y="22733"/>
                    <a:pt x="101600" y="50800"/>
                  </a:cubicBezTo>
                  <a:lnTo>
                    <a:pt x="101600" y="1973834"/>
                  </a:lnTo>
                  <a:cubicBezTo>
                    <a:pt x="101600" y="2001901"/>
                    <a:pt x="78867" y="2024634"/>
                    <a:pt x="50800" y="2024634"/>
                  </a:cubicBezTo>
                  <a:cubicBezTo>
                    <a:pt x="22733" y="2024634"/>
                    <a:pt x="0" y="2001901"/>
                    <a:pt x="0" y="1973834"/>
                  </a:cubicBez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id="15" name="TextBox 15"/>
          <p:cNvSpPr txBox="1"/>
          <p:nvPr/>
        </p:nvSpPr>
        <p:spPr>
          <a:xfrm>
            <a:off x="784622" y="10795398"/>
            <a:ext cx="1915418" cy="258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sz="1500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The Problem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4622" y="11050340"/>
            <a:ext cx="8110537" cy="34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2757" lvl="2" indent="-77586" algn="l">
              <a:lnSpc>
                <a:spcPts val="1874"/>
              </a:lnSpc>
              <a:buFont typeface="Arial"/>
              <a:buChar char="⚬"/>
            </a:pPr>
            <a:r>
              <a:rPr lang="en-US" sz="1187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Increasing volumes of unsolicited bulk emails (spam)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4622" y="11349186"/>
            <a:ext cx="8110537" cy="34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2757" lvl="2" indent="-77586" algn="l">
              <a:lnSpc>
                <a:spcPts val="1874"/>
              </a:lnSpc>
              <a:buFont typeface="Arial"/>
              <a:buChar char="⚬"/>
            </a:pPr>
            <a:r>
              <a:rPr lang="en-US" sz="1187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Sophisticated phishing attempts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84622" y="11648034"/>
            <a:ext cx="8110537" cy="34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2757" lvl="2" indent="-77586" algn="l">
              <a:lnSpc>
                <a:spcPts val="1874"/>
              </a:lnSpc>
              <a:buFont typeface="Arial"/>
              <a:buChar char="⚬"/>
            </a:pPr>
            <a:r>
              <a:rPr lang="en-US" sz="1187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Distribution of malware and viruses</a:t>
            </a:r>
          </a:p>
        </p:txBody>
      </p:sp>
      <p:sp>
        <p:nvSpPr>
          <p:cNvPr id="19" name="Freeform 19"/>
          <p:cNvSpPr/>
          <p:nvPr/>
        </p:nvSpPr>
        <p:spPr>
          <a:xfrm>
            <a:off x="9210972" y="10632727"/>
            <a:ext cx="8550402" cy="1537621"/>
          </a:xfrm>
          <a:custGeom>
            <a:avLst/>
            <a:gdLst/>
            <a:ahLst/>
            <a:cxnLst/>
            <a:rect l="l" t="t" r="r" b="b"/>
            <a:pathLst>
              <a:path w="8550402" h="1537621">
                <a:moveTo>
                  <a:pt x="0" y="0"/>
                </a:moveTo>
                <a:lnTo>
                  <a:pt x="8550402" y="0"/>
                </a:lnTo>
                <a:lnTo>
                  <a:pt x="8550402" y="1537621"/>
                </a:lnTo>
                <a:lnTo>
                  <a:pt x="0" y="15376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9220498" y="10642252"/>
            <a:ext cx="76200" cy="1518476"/>
            <a:chOff x="0" y="0"/>
            <a:chExt cx="101600" cy="202463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1600" cy="2024634"/>
            </a:xfrm>
            <a:custGeom>
              <a:avLst/>
              <a:gdLst/>
              <a:ahLst/>
              <a:cxnLst/>
              <a:rect l="l" t="t" r="r" b="b"/>
              <a:pathLst>
                <a:path w="101600" h="2024634">
                  <a:moveTo>
                    <a:pt x="0" y="50800"/>
                  </a:moveTo>
                  <a:cubicBezTo>
                    <a:pt x="0" y="22733"/>
                    <a:pt x="22733" y="0"/>
                    <a:pt x="50800" y="0"/>
                  </a:cubicBezTo>
                  <a:cubicBezTo>
                    <a:pt x="78867" y="0"/>
                    <a:pt x="101600" y="22733"/>
                    <a:pt x="101600" y="50800"/>
                  </a:cubicBezTo>
                  <a:lnTo>
                    <a:pt x="101600" y="1973834"/>
                  </a:lnTo>
                  <a:cubicBezTo>
                    <a:pt x="101600" y="2001901"/>
                    <a:pt x="78867" y="2024634"/>
                    <a:pt x="50800" y="2024634"/>
                  </a:cubicBezTo>
                  <a:cubicBezTo>
                    <a:pt x="22733" y="2024634"/>
                    <a:pt x="0" y="2001901"/>
                    <a:pt x="0" y="1973834"/>
                  </a:cubicBez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id="22" name="TextBox 22"/>
          <p:cNvSpPr txBox="1"/>
          <p:nvPr/>
        </p:nvSpPr>
        <p:spPr>
          <a:xfrm>
            <a:off x="9468891" y="10795398"/>
            <a:ext cx="1915418" cy="258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sz="1500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The Solution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468891" y="11050340"/>
            <a:ext cx="8110686" cy="34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2757" lvl="2" indent="-77586" algn="l">
              <a:lnSpc>
                <a:spcPts val="1874"/>
              </a:lnSpc>
              <a:buFont typeface="Arial"/>
              <a:buChar char="⚬"/>
            </a:pPr>
            <a:r>
              <a:rPr lang="en-US" sz="1187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Development of robust spam detection systems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68891" y="11349186"/>
            <a:ext cx="8110686" cy="34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2757" lvl="2" indent="-77586" algn="l">
              <a:lnSpc>
                <a:spcPts val="1874"/>
              </a:lnSpc>
              <a:buFont typeface="Arial"/>
              <a:buChar char="⚬"/>
            </a:pPr>
            <a:r>
              <a:rPr lang="en-US" sz="1187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Critical for maintaining email integrity and user trust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468891" y="11648034"/>
            <a:ext cx="8110686" cy="34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2757" lvl="2" indent="-77586" algn="l">
              <a:lnSpc>
                <a:spcPts val="1874"/>
              </a:lnSpc>
              <a:buFont typeface="Arial"/>
              <a:buChar char="⚬"/>
            </a:pPr>
            <a:r>
              <a:rPr lang="en-US" sz="1187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Objective: Accurately classify messages as </a:t>
            </a:r>
            <a:r>
              <a:rPr lang="en-US" sz="1187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Spam</a:t>
            </a:r>
            <a:r>
              <a:rPr lang="en-US" sz="1187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or </a:t>
            </a:r>
            <a:r>
              <a:rPr lang="en-US" sz="1187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Ham</a:t>
            </a:r>
            <a:r>
              <a:rPr lang="en-US" sz="1187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(legitimate email)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674025" y="627609"/>
            <a:ext cx="2939951" cy="386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4"/>
              </a:lnSpc>
            </a:pPr>
            <a:r>
              <a:rPr lang="en-US" sz="2312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Chapter 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3169" y="1182440"/>
            <a:ext cx="11746099" cy="1001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37"/>
              </a:lnSpc>
            </a:pPr>
            <a:r>
              <a:rPr lang="en-US" sz="6373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Tools &amp; Technologies Utilised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23169" y="2182940"/>
            <a:ext cx="16641664" cy="1071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9"/>
              </a:lnSpc>
            </a:pPr>
            <a:r>
              <a:rPr lang="en-US" sz="241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Our project leveraged a suite of powerful, open-source tools and libraries, enabling efficient development, robust model training, and seamless deployment.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3169" y="3852763"/>
            <a:ext cx="2939951" cy="386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4"/>
              </a:lnSpc>
            </a:pPr>
            <a:r>
              <a:rPr lang="en-US" sz="2312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Python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169" y="4267696"/>
            <a:ext cx="3456824" cy="1465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The core programming language for its versatility and extensive ecosystem in machine learning.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872265" y="3852763"/>
            <a:ext cx="2939951" cy="368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4"/>
              </a:lnSpc>
            </a:pPr>
            <a:r>
              <a:rPr lang="en-US" sz="2312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Pandas, Scikit-learn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872265" y="4249712"/>
            <a:ext cx="4428026" cy="1619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55" dirty="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For data manipulation and analysis, crucial for handling the SMS Spam Collection dataset.</a:t>
            </a:r>
          </a:p>
          <a:p>
            <a:pPr algn="l">
              <a:lnSpc>
                <a:spcPts val="2683"/>
              </a:lnSpc>
            </a:pPr>
            <a:r>
              <a:rPr lang="en-US" sz="1655" dirty="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 comprehensive library providing machine learning algorithms like </a:t>
            </a:r>
            <a:r>
              <a:rPr lang="en-US" sz="1655" dirty="0" err="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CountVectorizer</a:t>
            </a:r>
            <a:r>
              <a:rPr lang="en-US" sz="1655" dirty="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and Multinomial Naive Bayes.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460952" y="6556356"/>
            <a:ext cx="5351264" cy="427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Used Gemmini Pro 2.5 API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3169" y="7720459"/>
            <a:ext cx="2939951" cy="348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4"/>
              </a:lnSpc>
            </a:pPr>
            <a:r>
              <a:rPr lang="en-US" sz="2312" b="1" dirty="0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Next &amp; Flask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23169" y="8095506"/>
            <a:ext cx="5351264" cy="90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 lightweight web framework for building the user interface and serving model predictions.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3169" y="9225675"/>
            <a:ext cx="16641664" cy="528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The SMS Spam Collection dataset was instrumental for training and evaluating our model.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763120" y="6149958"/>
            <a:ext cx="2939951" cy="358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4"/>
              </a:lnSpc>
            </a:pPr>
            <a:r>
              <a:rPr lang="en-US" sz="2312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Api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819631" y="3339773"/>
            <a:ext cx="4059514" cy="320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0"/>
              </a:lnSpc>
              <a:spcBef>
                <a:spcPct val="0"/>
              </a:spcBef>
            </a:pPr>
            <a:r>
              <a:rPr lang="en-US" sz="2000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Backend (Python/Flask)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855577" y="3737114"/>
            <a:ext cx="6232865" cy="3421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26364" lvl="1" indent="-213182" algn="l">
              <a:lnSpc>
                <a:spcPts val="2468"/>
              </a:lnSpc>
              <a:buFont typeface="Arial"/>
              <a:buChar char="•"/>
            </a:pPr>
            <a:r>
              <a:rPr lang="en-US" sz="1974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Flask – For creating the web API.</a:t>
            </a:r>
          </a:p>
          <a:p>
            <a:pPr marL="426364" lvl="1" indent="-213182" algn="l">
              <a:lnSpc>
                <a:spcPts val="2468"/>
              </a:lnSpc>
              <a:spcBef>
                <a:spcPct val="0"/>
              </a:spcBef>
              <a:buFont typeface="Arial"/>
              <a:buChar char="•"/>
            </a:pPr>
            <a:r>
              <a:rPr lang="en-US" sz="1974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Flask-CORS – To allow cross-origin requests from the frontend.</a:t>
            </a:r>
          </a:p>
          <a:p>
            <a:pPr marL="426364" lvl="1" indent="-213182" algn="l">
              <a:lnSpc>
                <a:spcPts val="2468"/>
              </a:lnSpc>
              <a:spcBef>
                <a:spcPct val="0"/>
              </a:spcBef>
              <a:buFont typeface="Arial"/>
              <a:buChar char="•"/>
            </a:pPr>
            <a:r>
              <a:rPr lang="en-US" sz="1974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pandas – To load and handle the dataset.</a:t>
            </a:r>
          </a:p>
          <a:p>
            <a:pPr marL="426364" lvl="1" indent="-213182" algn="l">
              <a:lnSpc>
                <a:spcPts val="2468"/>
              </a:lnSpc>
              <a:spcBef>
                <a:spcPct val="0"/>
              </a:spcBef>
              <a:buFont typeface="Arial"/>
              <a:buChar char="•"/>
            </a:pPr>
            <a:r>
              <a:rPr lang="en-US" sz="1974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scikit-learn (</a:t>
            </a:r>
            <a:r>
              <a:rPr lang="en-US" sz="1974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sklearn</a:t>
            </a:r>
            <a:r>
              <a:rPr lang="en-US" sz="1974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 – For machine learning tasks:</a:t>
            </a:r>
          </a:p>
          <a:p>
            <a:pPr marL="426364" lvl="1" indent="-213182" algn="l">
              <a:lnSpc>
                <a:spcPts val="2468"/>
              </a:lnSpc>
              <a:spcBef>
                <a:spcPct val="0"/>
              </a:spcBef>
              <a:buFont typeface="Arial"/>
              <a:buChar char="•"/>
            </a:pPr>
            <a:r>
              <a:rPr lang="en-US" sz="1974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CountVectorizer</a:t>
            </a:r>
            <a:r>
              <a:rPr lang="en-US" sz="1974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→ Convert text to numeric features (Bag of Words)</a:t>
            </a:r>
          </a:p>
          <a:p>
            <a:pPr marL="426364" lvl="1" indent="-213182" algn="l">
              <a:lnSpc>
                <a:spcPts val="2468"/>
              </a:lnSpc>
              <a:spcBef>
                <a:spcPct val="0"/>
              </a:spcBef>
              <a:buFont typeface="Arial"/>
              <a:buChar char="•"/>
            </a:pPr>
            <a:r>
              <a:rPr lang="en-US" sz="1974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train_test_split</a:t>
            </a:r>
            <a:r>
              <a:rPr lang="en-US" sz="1974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→ Splitting data for training/testing</a:t>
            </a:r>
          </a:p>
          <a:p>
            <a:pPr algn="l">
              <a:lnSpc>
                <a:spcPts val="2468"/>
              </a:lnSpc>
              <a:spcBef>
                <a:spcPct val="0"/>
              </a:spcBef>
            </a:pPr>
            <a:endParaRPr lang="en-US" sz="1974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1819631" y="7139428"/>
            <a:ext cx="3952405" cy="320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0"/>
              </a:lnSpc>
              <a:spcBef>
                <a:spcPct val="0"/>
              </a:spcBef>
            </a:pPr>
            <a:r>
              <a:rPr lang="en-US" sz="2000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Frontend (Next.js/React)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55577" y="7486719"/>
            <a:ext cx="6232865" cy="6205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13182" lvl="1" algn="l">
              <a:lnSpc>
                <a:spcPts val="2468"/>
              </a:lnSpc>
              <a:spcBef>
                <a:spcPct val="0"/>
              </a:spcBef>
            </a:pPr>
            <a:r>
              <a:rPr lang="en-US" sz="1974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Next.js – React framework for routing and server-side rendering..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674025" y="627609"/>
            <a:ext cx="2939951" cy="358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4"/>
              </a:lnSpc>
            </a:pPr>
            <a:r>
              <a:rPr lang="en-US" sz="2312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Chapter 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46613" y="1986616"/>
            <a:ext cx="4127412" cy="7112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932"/>
              </a:lnSpc>
              <a:spcBef>
                <a:spcPct val="0"/>
              </a:spcBef>
            </a:pPr>
            <a:r>
              <a:rPr lang="en-US" sz="4768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Advantages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845136" y="1986616"/>
            <a:ext cx="4842664" cy="7112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932"/>
              </a:lnSpc>
              <a:spcBef>
                <a:spcPct val="0"/>
              </a:spcBef>
            </a:pPr>
            <a:r>
              <a:rPr lang="en-US" sz="4768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Disadvantages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63142" y="3286318"/>
            <a:ext cx="8338389" cy="5195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3136" lvl="1" indent="-276568" algn="l">
              <a:lnSpc>
                <a:spcPts val="3184"/>
              </a:lnSpc>
              <a:spcBef>
                <a:spcPct val="0"/>
              </a:spcBef>
              <a:buFont typeface="Arial"/>
              <a:buChar char="•"/>
            </a:pPr>
            <a:r>
              <a:rPr lang="en-US" sz="256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Accurate Spam Detection: Combines traditional ML and AI for reliable results.</a:t>
            </a:r>
          </a:p>
          <a:p>
            <a:pPr marL="553136" lvl="1" indent="-276568" algn="l">
              <a:lnSpc>
                <a:spcPts val="3184"/>
              </a:lnSpc>
              <a:spcBef>
                <a:spcPct val="0"/>
              </a:spcBef>
              <a:buFont typeface="Arial"/>
              <a:buChar char="•"/>
            </a:pPr>
            <a:r>
              <a:rPr lang="en-US" sz="256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User-Friendly Interface: Clean, responsive frontend using Next.js and Tailwind.</a:t>
            </a:r>
          </a:p>
          <a:p>
            <a:pPr marL="553136" lvl="1" indent="-276568" algn="l">
              <a:lnSpc>
                <a:spcPts val="3184"/>
              </a:lnSpc>
              <a:spcBef>
                <a:spcPct val="0"/>
              </a:spcBef>
              <a:buFont typeface="Arial"/>
              <a:buChar char="•"/>
            </a:pPr>
            <a:r>
              <a:rPr lang="en-US" sz="256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Fast Predictions: ML-based API ensures near-instant results for users.</a:t>
            </a:r>
          </a:p>
          <a:p>
            <a:pPr marL="553136" lvl="1" indent="-276568" algn="l">
              <a:lnSpc>
                <a:spcPts val="3184"/>
              </a:lnSpc>
              <a:spcBef>
                <a:spcPct val="0"/>
              </a:spcBef>
              <a:buFont typeface="Arial"/>
              <a:buChar char="•"/>
            </a:pPr>
            <a:r>
              <a:rPr lang="en-US" sz="256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Scalable: Backend APIs can handle large volumes of messages.</a:t>
            </a:r>
          </a:p>
          <a:p>
            <a:pPr marL="553136" lvl="1" indent="-276568" algn="l">
              <a:lnSpc>
                <a:spcPts val="3184"/>
              </a:lnSpc>
              <a:spcBef>
                <a:spcPct val="0"/>
              </a:spcBef>
              <a:buFont typeface="Arial"/>
              <a:buChar char="•"/>
            </a:pPr>
            <a:r>
              <a:rPr lang="en-US" sz="256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Modern Tech Stack: Utilizes Flask, React, Tailwind, and Google Gemini AI.</a:t>
            </a:r>
          </a:p>
          <a:p>
            <a:pPr marL="553136" lvl="1" indent="-276568" algn="l">
              <a:lnSpc>
                <a:spcPts val="3184"/>
              </a:lnSpc>
              <a:spcBef>
                <a:spcPct val="0"/>
              </a:spcBef>
              <a:buFont typeface="Arial"/>
              <a:buChar char="•"/>
            </a:pPr>
            <a:r>
              <a:rPr lang="en-US" sz="256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Flexible Deployment: Frontend and backend can be deployed independently.</a:t>
            </a:r>
          </a:p>
          <a:p>
            <a:pPr algn="l">
              <a:lnSpc>
                <a:spcPts val="3186"/>
              </a:lnSpc>
              <a:spcBef>
                <a:spcPct val="0"/>
              </a:spcBef>
            </a:pPr>
            <a:endParaRPr lang="en-US" sz="2561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36377" y="3286318"/>
            <a:ext cx="7648066" cy="5195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3136" lvl="1" indent="-276568" algn="l">
              <a:lnSpc>
                <a:spcPts val="3184"/>
              </a:lnSpc>
              <a:spcBef>
                <a:spcPct val="0"/>
              </a:spcBef>
              <a:buFont typeface="Arial"/>
              <a:buChar char="•"/>
            </a:pPr>
            <a:r>
              <a:rPr lang="en-US" sz="256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Dependency on Internet: Gemini AI API requires active internet connection.</a:t>
            </a:r>
          </a:p>
          <a:p>
            <a:pPr marL="553136" lvl="1" indent="-276568" algn="l">
              <a:lnSpc>
                <a:spcPts val="3184"/>
              </a:lnSpc>
              <a:spcBef>
                <a:spcPct val="0"/>
              </a:spcBef>
              <a:buFont typeface="Arial"/>
              <a:buChar char="•"/>
            </a:pPr>
            <a:r>
              <a:rPr lang="en-US" sz="256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Limited Dataset: ML model performance depends on the quality and size of training data.</a:t>
            </a:r>
          </a:p>
          <a:p>
            <a:pPr marL="553136" lvl="1" indent="-276568" algn="l">
              <a:lnSpc>
                <a:spcPts val="3184"/>
              </a:lnSpc>
              <a:spcBef>
                <a:spcPct val="0"/>
              </a:spcBef>
              <a:buFont typeface="Arial"/>
              <a:buChar char="•"/>
            </a:pPr>
            <a:r>
              <a:rPr lang="en-US" sz="256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Compute Requirements: AI predictions may require more computational resources.</a:t>
            </a:r>
          </a:p>
          <a:p>
            <a:pPr marL="553136" lvl="1" indent="-276568" algn="l">
              <a:lnSpc>
                <a:spcPts val="3184"/>
              </a:lnSpc>
              <a:spcBef>
                <a:spcPct val="0"/>
              </a:spcBef>
              <a:buFont typeface="Arial"/>
              <a:buChar char="•"/>
            </a:pPr>
            <a:r>
              <a:rPr lang="en-US" sz="256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Maintenance Overhead: Two backends (ML + AI) need separate upkeep.</a:t>
            </a:r>
          </a:p>
          <a:p>
            <a:pPr marL="553136" lvl="1" indent="-276568" algn="l">
              <a:lnSpc>
                <a:spcPts val="3184"/>
              </a:lnSpc>
              <a:spcBef>
                <a:spcPct val="0"/>
              </a:spcBef>
              <a:buFont typeface="Arial"/>
              <a:buChar char="•"/>
            </a:pPr>
            <a:r>
              <a:rPr lang="en-US" sz="256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False Positives/Negatives: No model is perfect; occasional misclassification may occur.</a:t>
            </a:r>
          </a:p>
          <a:p>
            <a:pPr algn="l">
              <a:lnSpc>
                <a:spcPts val="3186"/>
              </a:lnSpc>
              <a:spcBef>
                <a:spcPct val="0"/>
              </a:spcBef>
            </a:pPr>
            <a:endParaRPr lang="en-US" sz="2561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853660" y="367309"/>
            <a:ext cx="2580680" cy="320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lang="en-US" sz="2000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Chapter 5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22560" y="772836"/>
            <a:ext cx="15015865" cy="966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562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Methodology: The Spam Detection Pipeline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22561" y="1644076"/>
            <a:ext cx="16842879" cy="974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66"/>
              </a:lnSpc>
            </a:pPr>
            <a:r>
              <a:rPr lang="en-US" sz="2324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Our approach followed a structured machine learning pipeline, from raw data to a fully deployed model, ensuring accuracy and efficiency in spam classification.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2560" y="3333155"/>
            <a:ext cx="478247" cy="3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 Light"/>
                <a:ea typeface="Inter Light"/>
                <a:cs typeface="Inter Light"/>
                <a:sym typeface="Inter Light"/>
              </a:rPr>
              <a:t>01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22560" y="3788717"/>
            <a:ext cx="8318182" cy="28575"/>
            <a:chOff x="0" y="0"/>
            <a:chExt cx="11090909" cy="381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1090910" cy="38100"/>
            </a:xfrm>
            <a:custGeom>
              <a:avLst/>
              <a:gdLst/>
              <a:ahLst/>
              <a:cxnLst/>
              <a:rect l="l" t="t" r="r" b="b"/>
              <a:pathLst>
                <a:path w="11090910" h="38100">
                  <a:moveTo>
                    <a:pt x="0" y="0"/>
                  </a:moveTo>
                  <a:lnTo>
                    <a:pt x="11090910" y="0"/>
                  </a:lnTo>
                  <a:lnTo>
                    <a:pt x="1109091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id="12" name="TextBox 12"/>
          <p:cNvSpPr txBox="1"/>
          <p:nvPr/>
        </p:nvSpPr>
        <p:spPr>
          <a:xfrm>
            <a:off x="722560" y="3910905"/>
            <a:ext cx="2580680" cy="360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Data Collection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2560" y="4261991"/>
            <a:ext cx="8318152" cy="79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Gathering the raw SMS Spam Collection dataset, comprising both legitimate and spam messages.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247137" y="3333155"/>
            <a:ext cx="654131" cy="3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 Light"/>
                <a:ea typeface="Inter Light"/>
                <a:cs typeface="Inter Light"/>
                <a:sym typeface="Inter Light"/>
              </a:rPr>
              <a:t>02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247137" y="3788717"/>
            <a:ext cx="8318278" cy="28575"/>
            <a:chOff x="0" y="0"/>
            <a:chExt cx="11091037" cy="381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091037" cy="38100"/>
            </a:xfrm>
            <a:custGeom>
              <a:avLst/>
              <a:gdLst/>
              <a:ahLst/>
              <a:cxnLst/>
              <a:rect l="l" t="t" r="r" b="b"/>
              <a:pathLst>
                <a:path w="11091037" h="38100">
                  <a:moveTo>
                    <a:pt x="0" y="0"/>
                  </a:moveTo>
                  <a:lnTo>
                    <a:pt x="11091037" y="0"/>
                  </a:lnTo>
                  <a:lnTo>
                    <a:pt x="11091037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id="17" name="TextBox 17"/>
          <p:cNvSpPr txBox="1"/>
          <p:nvPr/>
        </p:nvSpPr>
        <p:spPr>
          <a:xfrm>
            <a:off x="9247137" y="3910905"/>
            <a:ext cx="2580680" cy="360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Preprocessing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47137" y="4261991"/>
            <a:ext cx="8318301" cy="79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Cleaning the text data: removing stop words, punctuation, and converting to lowercase for consistency.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22560" y="5283696"/>
            <a:ext cx="590173" cy="3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 Light"/>
                <a:ea typeface="Inter Light"/>
                <a:cs typeface="Inter Light"/>
                <a:sym typeface="Inter Light"/>
              </a:rPr>
              <a:t>03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722560" y="5739259"/>
            <a:ext cx="8318182" cy="28575"/>
            <a:chOff x="0" y="0"/>
            <a:chExt cx="11090909" cy="381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1090910" cy="38100"/>
            </a:xfrm>
            <a:custGeom>
              <a:avLst/>
              <a:gdLst/>
              <a:ahLst/>
              <a:cxnLst/>
              <a:rect l="l" t="t" r="r" b="b"/>
              <a:pathLst>
                <a:path w="11090910" h="38100">
                  <a:moveTo>
                    <a:pt x="0" y="0"/>
                  </a:moveTo>
                  <a:lnTo>
                    <a:pt x="11090910" y="0"/>
                  </a:lnTo>
                  <a:lnTo>
                    <a:pt x="1109091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id="22" name="TextBox 22"/>
          <p:cNvSpPr txBox="1"/>
          <p:nvPr/>
        </p:nvSpPr>
        <p:spPr>
          <a:xfrm>
            <a:off x="722560" y="5861448"/>
            <a:ext cx="2580680" cy="360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Feature Extraction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22560" y="6212532"/>
            <a:ext cx="8318152" cy="79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Transforming text into numerical features using the Bag-of-Words (BoW) model with `CountVectorizer`.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247137" y="5283696"/>
            <a:ext cx="526215" cy="3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 Light"/>
                <a:ea typeface="Inter Light"/>
                <a:cs typeface="Inter Light"/>
                <a:sym typeface="Inter Light"/>
              </a:rPr>
              <a:t>04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247137" y="5739259"/>
            <a:ext cx="8318278" cy="28575"/>
            <a:chOff x="0" y="0"/>
            <a:chExt cx="11091037" cy="381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1091037" cy="38100"/>
            </a:xfrm>
            <a:custGeom>
              <a:avLst/>
              <a:gdLst/>
              <a:ahLst/>
              <a:cxnLst/>
              <a:rect l="l" t="t" r="r" b="b"/>
              <a:pathLst>
                <a:path w="11091037" h="38100">
                  <a:moveTo>
                    <a:pt x="0" y="0"/>
                  </a:moveTo>
                  <a:lnTo>
                    <a:pt x="11091037" y="0"/>
                  </a:lnTo>
                  <a:lnTo>
                    <a:pt x="11091037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id="27" name="TextBox 27"/>
          <p:cNvSpPr txBox="1"/>
          <p:nvPr/>
        </p:nvSpPr>
        <p:spPr>
          <a:xfrm>
            <a:off x="9247137" y="5861448"/>
            <a:ext cx="2580680" cy="360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Model Training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247137" y="6212532"/>
            <a:ext cx="8318301" cy="79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Applying the Multinomial Naive Bayes algorithm to learn patterns from the processed data.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22560" y="7234238"/>
            <a:ext cx="590173" cy="3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 Light"/>
                <a:ea typeface="Inter Light"/>
                <a:cs typeface="Inter Light"/>
                <a:sym typeface="Inter Light"/>
              </a:rPr>
              <a:t>05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722560" y="7689800"/>
            <a:ext cx="8318182" cy="28575"/>
            <a:chOff x="0" y="0"/>
            <a:chExt cx="11090909" cy="381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1090910" cy="38100"/>
            </a:xfrm>
            <a:custGeom>
              <a:avLst/>
              <a:gdLst/>
              <a:ahLst/>
              <a:cxnLst/>
              <a:rect l="l" t="t" r="r" b="b"/>
              <a:pathLst>
                <a:path w="11090910" h="38100">
                  <a:moveTo>
                    <a:pt x="0" y="0"/>
                  </a:moveTo>
                  <a:lnTo>
                    <a:pt x="11090910" y="0"/>
                  </a:lnTo>
                  <a:lnTo>
                    <a:pt x="1109091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id="32" name="TextBox 32"/>
          <p:cNvSpPr txBox="1"/>
          <p:nvPr/>
        </p:nvSpPr>
        <p:spPr>
          <a:xfrm>
            <a:off x="722560" y="7811989"/>
            <a:ext cx="2580680" cy="360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Evaluation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22560" y="8163074"/>
            <a:ext cx="8318152" cy="46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Assessing model performance using metrics: Accuracy, Precision, and Recall.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247137" y="7234238"/>
            <a:ext cx="830016" cy="3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 Light"/>
                <a:ea typeface="Inter Light"/>
                <a:cs typeface="Inter Light"/>
                <a:sym typeface="Inter Light"/>
              </a:rPr>
              <a:t>06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9247137" y="7689800"/>
            <a:ext cx="8318278" cy="28575"/>
            <a:chOff x="0" y="0"/>
            <a:chExt cx="11091037" cy="381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1091037" cy="38100"/>
            </a:xfrm>
            <a:custGeom>
              <a:avLst/>
              <a:gdLst/>
              <a:ahLst/>
              <a:cxnLst/>
              <a:rect l="l" t="t" r="r" b="b"/>
              <a:pathLst>
                <a:path w="11091037" h="38100">
                  <a:moveTo>
                    <a:pt x="0" y="0"/>
                  </a:moveTo>
                  <a:lnTo>
                    <a:pt x="11091037" y="0"/>
                  </a:lnTo>
                  <a:lnTo>
                    <a:pt x="11091037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id="37" name="TextBox 37"/>
          <p:cNvSpPr txBox="1"/>
          <p:nvPr/>
        </p:nvSpPr>
        <p:spPr>
          <a:xfrm>
            <a:off x="9247137" y="7811989"/>
            <a:ext cx="2580680" cy="360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 b="1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Deployment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247137" y="8163074"/>
            <a:ext cx="8318301" cy="79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Integrating the trained model into a Flask web application and hosting it on Render for live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id="6" name="Freeform 6"/>
          <p:cNvSpPr/>
          <p:nvPr/>
        </p:nvSpPr>
        <p:spPr>
          <a:xfrm>
            <a:off x="1192580" y="3918455"/>
            <a:ext cx="11301259" cy="5339845"/>
          </a:xfrm>
          <a:custGeom>
            <a:avLst/>
            <a:gdLst/>
            <a:ahLst/>
            <a:cxnLst/>
            <a:rect l="l" t="t" r="r" b="b"/>
            <a:pathLst>
              <a:path w="11301259" h="5339845">
                <a:moveTo>
                  <a:pt x="0" y="0"/>
                </a:moveTo>
                <a:lnTo>
                  <a:pt x="11301259" y="0"/>
                </a:lnTo>
                <a:lnTo>
                  <a:pt x="11301259" y="5339845"/>
                </a:lnTo>
                <a:lnTo>
                  <a:pt x="0" y="53398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7516565" y="696962"/>
            <a:ext cx="3254723" cy="395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87"/>
              </a:lnSpc>
            </a:pPr>
            <a:r>
              <a:rPr lang="en-US" sz="2561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Chapter 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1275" y="1306860"/>
            <a:ext cx="14517731" cy="11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2"/>
              </a:lnSpc>
            </a:pPr>
            <a:r>
              <a:rPr lang="en-US" sz="7062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Results &amp; Output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45284" y="2578360"/>
            <a:ext cx="14249713" cy="680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5"/>
              </a:lnSpc>
              <a:spcBef>
                <a:spcPct val="0"/>
              </a:spcBef>
            </a:pPr>
            <a:r>
              <a:rPr lang="en-US" sz="1704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To evaluate the performance of the developed spam detection system, several test messages were passed to the Flask API endpoint /predict. Both the Naïve Bayes ML model (app.py) and the Gemini-powered API (model.py) were tested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985717" y="4876800"/>
            <a:ext cx="4273583" cy="247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150"/>
              </a:lnSpc>
              <a:spcBef>
                <a:spcPct val="0"/>
              </a:spcBef>
            </a:pPr>
            <a:r>
              <a:rPr lang="en-US" sz="6232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HOME PAGE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id="6" name="Freeform 6"/>
          <p:cNvSpPr/>
          <p:nvPr/>
        </p:nvSpPr>
        <p:spPr>
          <a:xfrm>
            <a:off x="1219046" y="3126692"/>
            <a:ext cx="6738843" cy="5656438"/>
          </a:xfrm>
          <a:custGeom>
            <a:avLst/>
            <a:gdLst/>
            <a:ahLst/>
            <a:cxnLst/>
            <a:rect l="l" t="t" r="r" b="b"/>
            <a:pathLst>
              <a:path w="6738843" h="5656438">
                <a:moveTo>
                  <a:pt x="0" y="0"/>
                </a:moveTo>
                <a:lnTo>
                  <a:pt x="6738843" y="0"/>
                </a:lnTo>
                <a:lnTo>
                  <a:pt x="6738843" y="5656438"/>
                </a:lnTo>
                <a:lnTo>
                  <a:pt x="0" y="56564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295704" y="3126692"/>
            <a:ext cx="6716403" cy="5478278"/>
          </a:xfrm>
          <a:custGeom>
            <a:avLst/>
            <a:gdLst/>
            <a:ahLst/>
            <a:cxnLst/>
            <a:rect l="l" t="t" r="r" b="b"/>
            <a:pathLst>
              <a:path w="6716403" h="5478278">
                <a:moveTo>
                  <a:pt x="0" y="0"/>
                </a:moveTo>
                <a:lnTo>
                  <a:pt x="6716404" y="0"/>
                </a:lnTo>
                <a:lnTo>
                  <a:pt x="6716404" y="5478278"/>
                </a:lnTo>
                <a:lnTo>
                  <a:pt x="0" y="54782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11275" y="1306860"/>
            <a:ext cx="14517731" cy="11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2"/>
              </a:lnSpc>
            </a:pPr>
            <a:r>
              <a:rPr lang="en-US" sz="7062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11275" y="1325910"/>
            <a:ext cx="2865666" cy="705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67"/>
              </a:lnSpc>
            </a:pPr>
            <a:r>
              <a:rPr lang="en-US" sz="4462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Raw 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1275" y="2522265"/>
            <a:ext cx="13207752" cy="784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Load dataset -</a:t>
            </a:r>
          </a:p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df = pd.read_csv("SMSSpamCollection", sep="\t", header=None, names=["label", "text"])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1275" y="3622881"/>
            <a:ext cx="9528125" cy="55415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Features &amp; Labels</a:t>
            </a:r>
          </a:p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X =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df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['text']</a:t>
            </a:r>
          </a:p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y =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df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['label'].map({'ham': 0, 'spam': 1})</a:t>
            </a:r>
          </a:p>
          <a:p>
            <a:pPr algn="l">
              <a:lnSpc>
                <a:spcPts val="3124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# Text to numeric (Bag of Words)</a:t>
            </a:r>
          </a:p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cv =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CountVectorizer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()</a:t>
            </a:r>
          </a:p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X =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cv.fit_transform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(X)</a:t>
            </a:r>
          </a:p>
          <a:p>
            <a:pPr algn="l">
              <a:lnSpc>
                <a:spcPts val="3124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# Train model</a:t>
            </a:r>
          </a:p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X_train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X_test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y_train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y_test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=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train_test_split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(X, y,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test_size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=0.2,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random_state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=42)</a:t>
            </a:r>
          </a:p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model =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MultinomialNB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()                 </a:t>
            </a:r>
          </a:p>
          <a:p>
            <a:pPr algn="l">
              <a:lnSpc>
                <a:spcPts val="3124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model.fit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X_train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y_train</a:t>
            </a:r>
            <a:r>
              <a:rPr lang="en-US" sz="24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</a:p>
          <a:p>
            <a:pPr algn="l">
              <a:lnSpc>
                <a:spcPts val="3124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7516565" y="696962"/>
            <a:ext cx="3254723" cy="395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87"/>
              </a:lnSpc>
            </a:pPr>
            <a:r>
              <a:rPr lang="en-US" sz="2561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Chapter 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FFF6AE-9670-8422-41EB-CBFA36CB2E17}"/>
              </a:ext>
            </a:extLst>
          </p:cNvPr>
          <p:cNvSpPr txBox="1"/>
          <p:nvPr/>
        </p:nvSpPr>
        <p:spPr>
          <a:xfrm>
            <a:off x="9677399" y="4113350"/>
            <a:ext cx="670560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 err="1">
                <a:effectLst/>
                <a:latin typeface="Courier New" panose="02070309020205020404" pitchFamily="49" charset="0"/>
              </a:rPr>
              <a:t>MultinomialNB</a:t>
            </a:r>
            <a:r>
              <a:rPr lang="en-US" sz="2400" b="0" i="0" dirty="0">
                <a:effectLst/>
                <a:latin typeface="Courier New" panose="02070309020205020404" pitchFamily="49" charset="0"/>
              </a:rPr>
              <a:t>()</a:t>
            </a:r>
            <a:r>
              <a:rPr lang="en-US" sz="2400" b="0" i="0" dirty="0">
                <a:effectLst/>
                <a:latin typeface="Google Sans"/>
              </a:rPr>
              <a:t> refers to the Multinomial Naive Bayes classifier, a machine learning algorithm commonly used for classification tasks, particularly with discrete features such as word counts in text classification. It is implemented in various machine learning libraries, including </a:t>
            </a:r>
            <a:r>
              <a:rPr lang="en-US" sz="2400" b="0" i="0" dirty="0">
                <a:effectLst/>
                <a:latin typeface="Courier New" panose="02070309020205020404" pitchFamily="49" charset="0"/>
              </a:rPr>
              <a:t>scikit-learn</a:t>
            </a:r>
            <a:r>
              <a:rPr lang="en-US" sz="2400" b="0" i="0" dirty="0">
                <a:effectLst/>
                <a:latin typeface="Google Sans"/>
              </a:rPr>
              <a:t> in Python.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10800904" y="2624584"/>
            <a:ext cx="3544044" cy="430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Chapter 8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850237" y="3303389"/>
            <a:ext cx="9445526" cy="1308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25"/>
              </a:lnSpc>
            </a:pPr>
            <a:r>
              <a:rPr lang="en-US" sz="7687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Conclusion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50237" y="4865637"/>
            <a:ext cx="9445526" cy="107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We successfully developed and implemented an email spam detection system capable of accurately classifying messages with high efficacy.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0237" y="6091832"/>
            <a:ext cx="9445526" cy="1532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This project provided invaluable experience in machine learning pipeline development, web application deployment, and practical problem-solving.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950BC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7850237" y="2302669"/>
            <a:ext cx="9445526" cy="1905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37"/>
              </a:lnSpc>
            </a:pPr>
            <a:r>
              <a:rPr lang="en-US" sz="11124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Thank You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850237" y="4461868"/>
            <a:ext cx="9445526" cy="6250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For your time and attention.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50237" y="5234434"/>
            <a:ext cx="9445526" cy="6250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We are open to any questions.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0237" y="6262092"/>
            <a:ext cx="4376886" cy="6250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561"/>
              </a:lnSpc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Adreeraj Das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850237" y="6970811"/>
            <a:ext cx="4376886" cy="6250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561"/>
              </a:lnSpc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Ankit Shaw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928401" y="6262092"/>
            <a:ext cx="4376886" cy="6250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Technique Polytechnic Institute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928401" y="6970811"/>
            <a:ext cx="4376886" cy="6250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Session: 2025–26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1011</Words>
  <Application>Microsoft Office PowerPoint</Application>
  <PresentationFormat>Custom</PresentationFormat>
  <Paragraphs>185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Calibri</vt:lpstr>
      <vt:lpstr>Arial</vt:lpstr>
      <vt:lpstr>Inter Bold</vt:lpstr>
      <vt:lpstr>Inter</vt:lpstr>
      <vt:lpstr>Inter Light</vt:lpstr>
      <vt:lpstr>Courier New</vt:lpstr>
      <vt:lpstr>Google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Spam_Detection_Presentation.pptx</dc:title>
  <cp:lastModifiedBy>Adreeraj das</cp:lastModifiedBy>
  <cp:revision>7</cp:revision>
  <dcterms:created xsi:type="dcterms:W3CDTF">2006-08-16T00:00:00Z</dcterms:created>
  <dcterms:modified xsi:type="dcterms:W3CDTF">2025-09-01T06:18:13Z</dcterms:modified>
  <dc:identifier>DAGxhNh4Iss</dc:identifier>
</cp:coreProperties>
</file>