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" charset="1" panose="020B0502030000000004"/>
      <p:regular r:id="rId23"/>
    </p:embeddedFont>
    <p:embeddedFont>
      <p:font typeface="Cormorant Garamond Bold" charset="1" panose="00000800000000000000"/>
      <p:regular r:id="rId24"/>
    </p:embeddedFont>
    <p:embeddedFont>
      <p:font typeface="Inter Bold" charset="1" panose="020B0802030000000004"/>
      <p:regular r:id="rId25"/>
    </p:embeddedFont>
    <p:embeddedFont>
      <p:font typeface="Architects Daughter" charset="1" panose="00000000000000000000"/>
      <p:regular r:id="rId26"/>
    </p:embeddedFont>
    <p:embeddedFont>
      <p:font typeface="IM Fell Italics" charset="1" panose="02000000000000000000"/>
      <p:regular r:id="rId27"/>
    </p:embeddedFont>
    <p:embeddedFont>
      <p:font typeface="IM Fell" charset="1" panose="02000000000000000000"/>
      <p:regular r:id="rId29"/>
    </p:embeddedFont>
    <p:embeddedFont>
      <p:font typeface="Inter Light" charset="1" panose="02000503000000020004"/>
      <p:regular r:id="rId32"/>
    </p:embeddedFont>
    <p:embeddedFont>
      <p:font typeface="Canva Sans Bold" charset="1" panose="020B0803030501040103"/>
      <p:regular r:id="rId34"/>
    </p:embeddedFont>
    <p:embeddedFont>
      <p:font typeface="Schoolbell" charset="1" panose="02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5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3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3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3.jpe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3.jpe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3.jpe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https://github.com/adreerajdas/Adree-Spam-Detection" TargetMode="External" Type="http://schemas.openxmlformats.org/officeDocument/2006/relationships/hyperlink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62342" y="1900283"/>
            <a:ext cx="1619497" cy="1597999"/>
          </a:xfrm>
          <a:custGeom>
            <a:avLst/>
            <a:gdLst/>
            <a:ahLst/>
            <a:cxnLst/>
            <a:rect r="r" b="b" t="t" l="l"/>
            <a:pathLst>
              <a:path h="1597999" w="1619497">
                <a:moveTo>
                  <a:pt x="0" y="0"/>
                </a:moveTo>
                <a:lnTo>
                  <a:pt x="1619497" y="0"/>
                </a:lnTo>
                <a:lnTo>
                  <a:pt x="1619497" y="1597999"/>
                </a:lnTo>
                <a:lnTo>
                  <a:pt x="0" y="1597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22532" y="1985178"/>
            <a:ext cx="1428209" cy="1428209"/>
          </a:xfrm>
          <a:custGeom>
            <a:avLst/>
            <a:gdLst/>
            <a:ahLst/>
            <a:cxnLst/>
            <a:rect r="r" b="b" t="t" l="l"/>
            <a:pathLst>
              <a:path h="1428209" w="1428209">
                <a:moveTo>
                  <a:pt x="0" y="0"/>
                </a:moveTo>
                <a:lnTo>
                  <a:pt x="1428209" y="0"/>
                </a:lnTo>
                <a:lnTo>
                  <a:pt x="1428209" y="1428209"/>
                </a:lnTo>
                <a:lnTo>
                  <a:pt x="0" y="1428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37536" y="8739498"/>
            <a:ext cx="14501557" cy="4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235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Institute: Technique Polytechnic Institute, Hooghly – 712102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5999" y="8253750"/>
            <a:ext cx="12241085" cy="43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7"/>
              </a:lnSpc>
            </a:pPr>
            <a:r>
              <a:rPr lang="en-US" b="true" sz="3143" spc="157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ORG</a:t>
            </a:r>
            <a:r>
              <a:rPr lang="en-US" b="true" sz="3143" spc="157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ANISATION: CMC COMPUTER EDUCATION, SINGUR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9340" y="7775249"/>
            <a:ext cx="3693752" cy="2511751"/>
          </a:xfrm>
          <a:custGeom>
            <a:avLst/>
            <a:gdLst/>
            <a:ahLst/>
            <a:cxnLst/>
            <a:rect r="r" b="b" t="t" l="l"/>
            <a:pathLst>
              <a:path h="2511751" w="3693752">
                <a:moveTo>
                  <a:pt x="0" y="0"/>
                </a:moveTo>
                <a:lnTo>
                  <a:pt x="3693752" y="0"/>
                </a:lnTo>
                <a:lnTo>
                  <a:pt x="3693752" y="2511751"/>
                </a:lnTo>
                <a:lnTo>
                  <a:pt x="0" y="2511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594248" y="0"/>
            <a:ext cx="3693752" cy="2511751"/>
          </a:xfrm>
          <a:custGeom>
            <a:avLst/>
            <a:gdLst/>
            <a:ahLst/>
            <a:cxnLst/>
            <a:rect r="r" b="b" t="t" l="l"/>
            <a:pathLst>
              <a:path h="2511751" w="3693752">
                <a:moveTo>
                  <a:pt x="0" y="0"/>
                </a:moveTo>
                <a:lnTo>
                  <a:pt x="3693752" y="0"/>
                </a:lnTo>
                <a:lnTo>
                  <a:pt x="3693752" y="2511751"/>
                </a:lnTo>
                <a:lnTo>
                  <a:pt x="0" y="2511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-75264" y="76573"/>
            <a:ext cx="1592125" cy="1441596"/>
          </a:xfrm>
          <a:custGeom>
            <a:avLst/>
            <a:gdLst/>
            <a:ahLst/>
            <a:cxnLst/>
            <a:rect r="r" b="b" t="t" l="l"/>
            <a:pathLst>
              <a:path h="1441596" w="1592125">
                <a:moveTo>
                  <a:pt x="0" y="0"/>
                </a:moveTo>
                <a:lnTo>
                  <a:pt x="1592124" y="0"/>
                </a:lnTo>
                <a:lnTo>
                  <a:pt x="1592124" y="1441596"/>
                </a:lnTo>
                <a:lnTo>
                  <a:pt x="0" y="1441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464799" y="-30691"/>
            <a:ext cx="702127" cy="713175"/>
          </a:xfrm>
          <a:custGeom>
            <a:avLst/>
            <a:gdLst/>
            <a:ahLst/>
            <a:cxnLst/>
            <a:rect r="r" b="b" t="t" l="l"/>
            <a:pathLst>
              <a:path h="713175" w="702127">
                <a:moveTo>
                  <a:pt x="0" y="0"/>
                </a:moveTo>
                <a:lnTo>
                  <a:pt x="702127" y="0"/>
                </a:lnTo>
                <a:lnTo>
                  <a:pt x="702127" y="713175"/>
                </a:lnTo>
                <a:lnTo>
                  <a:pt x="0" y="713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5547" t="0" r="0" b="-2083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771140" y="8919537"/>
            <a:ext cx="1592125" cy="1441596"/>
          </a:xfrm>
          <a:custGeom>
            <a:avLst/>
            <a:gdLst/>
            <a:ahLst/>
            <a:cxnLst/>
            <a:rect r="r" b="b" t="t" l="l"/>
            <a:pathLst>
              <a:path h="1441596" w="1592125">
                <a:moveTo>
                  <a:pt x="0" y="0"/>
                </a:moveTo>
                <a:lnTo>
                  <a:pt x="1592124" y="0"/>
                </a:lnTo>
                <a:lnTo>
                  <a:pt x="1592124" y="1441597"/>
                </a:lnTo>
                <a:lnTo>
                  <a:pt x="0" y="14415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6132606" y="9592984"/>
            <a:ext cx="676960" cy="711072"/>
          </a:xfrm>
          <a:custGeom>
            <a:avLst/>
            <a:gdLst/>
            <a:ahLst/>
            <a:cxnLst/>
            <a:rect r="r" b="b" t="t" l="l"/>
            <a:pathLst>
              <a:path h="711072" w="676960">
                <a:moveTo>
                  <a:pt x="0" y="0"/>
                </a:moveTo>
                <a:lnTo>
                  <a:pt x="676960" y="0"/>
                </a:lnTo>
                <a:lnTo>
                  <a:pt x="676960" y="711072"/>
                </a:lnTo>
                <a:lnTo>
                  <a:pt x="0" y="711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0586" t="0" r="0" b="-2118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9275" y="2217672"/>
            <a:ext cx="2752363" cy="2752363"/>
          </a:xfrm>
          <a:custGeom>
            <a:avLst/>
            <a:gdLst/>
            <a:ahLst/>
            <a:cxnLst/>
            <a:rect r="r" b="b" t="t" l="l"/>
            <a:pathLst>
              <a:path h="2752363" w="2752363">
                <a:moveTo>
                  <a:pt x="0" y="0"/>
                </a:moveTo>
                <a:lnTo>
                  <a:pt x="2752362" y="0"/>
                </a:lnTo>
                <a:lnTo>
                  <a:pt x="2752362" y="2752363"/>
                </a:lnTo>
                <a:lnTo>
                  <a:pt x="0" y="2752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60944" y="3592104"/>
            <a:ext cx="2185459" cy="2177264"/>
          </a:xfrm>
          <a:custGeom>
            <a:avLst/>
            <a:gdLst/>
            <a:ahLst/>
            <a:cxnLst/>
            <a:rect r="r" b="b" t="t" l="l"/>
            <a:pathLst>
              <a:path h="2177264" w="2185459">
                <a:moveTo>
                  <a:pt x="0" y="0"/>
                </a:moveTo>
                <a:lnTo>
                  <a:pt x="2185460" y="0"/>
                </a:lnTo>
                <a:lnTo>
                  <a:pt x="2185460" y="2177264"/>
                </a:lnTo>
                <a:lnTo>
                  <a:pt x="0" y="21772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221660" y="4652161"/>
            <a:ext cx="6996199" cy="60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796">
                <a:solidFill>
                  <a:srgbClr val="4950BC"/>
                </a:solidFill>
                <a:latin typeface="Inter Bold"/>
                <a:ea typeface="Inter Bold"/>
                <a:cs typeface="Inter Bold"/>
                <a:sym typeface="Inter Bold"/>
              </a:rPr>
              <a:t>The Internship Project Report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58609" y="5811783"/>
            <a:ext cx="2388667" cy="46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2"/>
              </a:lnSpc>
            </a:pPr>
            <a:r>
              <a:rPr lang="en-US" sz="236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Submitted By: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22563" y="6160403"/>
            <a:ext cx="5731503" cy="70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46"/>
              </a:lnSpc>
            </a:pPr>
            <a:r>
              <a:rPr lang="en-US" sz="3634">
                <a:solidFill>
                  <a:srgbClr val="272525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Adreeraj Das (Roll No: 25)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98153" y="6798581"/>
            <a:ext cx="3109579" cy="45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7"/>
              </a:lnSpc>
            </a:pPr>
            <a:r>
              <a:rPr lang="en-US" sz="235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Reg No: D232431501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78969" y="281608"/>
            <a:ext cx="4081582" cy="40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36"/>
              </a:lnSpc>
            </a:pPr>
            <a:r>
              <a:rPr lang="en-US" sz="203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 the supervision of: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79753" y="682998"/>
            <a:ext cx="3844806" cy="54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sz="276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Mr. Dhrubojyoti Sarkar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91459" y="1099762"/>
            <a:ext cx="3021396" cy="54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19"/>
              </a:lnSpc>
            </a:pPr>
            <a:r>
              <a:rPr lang="en-US" sz="27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Mr. Soumyajit 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67885" y="9278713"/>
            <a:ext cx="2314428" cy="34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</a:pPr>
            <a:r>
              <a:rPr lang="en-US" sz="182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Session: 2025–26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92040" y="3574482"/>
            <a:ext cx="12729004" cy="11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3"/>
              </a:lnSpc>
            </a:pPr>
            <a:r>
              <a:rPr lang="en-US" sz="7511" i="true">
                <a:solidFill>
                  <a:srgbClr val="033359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Email Spam Detection with Python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52037" y="2418454"/>
            <a:ext cx="132764" cy="37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  <a:spcBef>
                <a:spcPct val="0"/>
              </a:spcBef>
            </a:pPr>
            <a:r>
              <a:rPr lang="en-US" sz="19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9457" y="279955"/>
            <a:ext cx="18447457" cy="9186631"/>
          </a:xfrm>
          <a:custGeom>
            <a:avLst/>
            <a:gdLst/>
            <a:ahLst/>
            <a:cxnLst/>
            <a:rect r="r" b="b" t="t" l="l"/>
            <a:pathLst>
              <a:path h="9186631" w="18447457">
                <a:moveTo>
                  <a:pt x="0" y="0"/>
                </a:moveTo>
                <a:lnTo>
                  <a:pt x="18447457" y="0"/>
                </a:lnTo>
                <a:lnTo>
                  <a:pt x="18447457" y="9186631"/>
                </a:lnTo>
                <a:lnTo>
                  <a:pt x="0" y="918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64" b="-1063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6702" y="10632727"/>
            <a:ext cx="8550176" cy="1537544"/>
            <a:chOff x="0" y="0"/>
            <a:chExt cx="11400235" cy="205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1374882" cy="2024761"/>
            </a:xfrm>
            <a:custGeom>
              <a:avLst/>
              <a:gdLst/>
              <a:ahLst/>
              <a:cxnLst/>
              <a:rect r="r" b="b" t="t" l="l"/>
              <a:pathLst>
                <a:path h="2024761" w="11374882">
                  <a:moveTo>
                    <a:pt x="0" y="85852"/>
                  </a:moveTo>
                  <a:cubicBezTo>
                    <a:pt x="0" y="38354"/>
                    <a:pt x="38862" y="0"/>
                    <a:pt x="86741" y="0"/>
                  </a:cubicBezTo>
                  <a:lnTo>
                    <a:pt x="11288141" y="0"/>
                  </a:lnTo>
                  <a:cubicBezTo>
                    <a:pt x="11336020" y="0"/>
                    <a:pt x="11374882" y="38354"/>
                    <a:pt x="11374882" y="85852"/>
                  </a:cubicBezTo>
                  <a:lnTo>
                    <a:pt x="11374882" y="1938909"/>
                  </a:lnTo>
                  <a:cubicBezTo>
                    <a:pt x="11374882" y="1986280"/>
                    <a:pt x="11336020" y="2024761"/>
                    <a:pt x="11288141" y="2024761"/>
                  </a:cubicBezTo>
                  <a:lnTo>
                    <a:pt x="86741" y="2024761"/>
                  </a:lnTo>
                  <a:cubicBezTo>
                    <a:pt x="38862" y="2024761"/>
                    <a:pt x="0" y="1986407"/>
                    <a:pt x="0" y="193890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00282" cy="2050161"/>
            </a:xfrm>
            <a:custGeom>
              <a:avLst/>
              <a:gdLst/>
              <a:ahLst/>
              <a:cxnLst/>
              <a:rect r="r" b="b" t="t" l="l"/>
              <a:pathLst>
                <a:path h="2050161" w="11400282">
                  <a:moveTo>
                    <a:pt x="0" y="98552"/>
                  </a:moveTo>
                  <a:cubicBezTo>
                    <a:pt x="0" y="43942"/>
                    <a:pt x="44577" y="0"/>
                    <a:pt x="99441" y="0"/>
                  </a:cubicBezTo>
                  <a:lnTo>
                    <a:pt x="11300841" y="0"/>
                  </a:lnTo>
                  <a:lnTo>
                    <a:pt x="11300841" y="12700"/>
                  </a:lnTo>
                  <a:lnTo>
                    <a:pt x="11300841" y="0"/>
                  </a:lnTo>
                  <a:cubicBezTo>
                    <a:pt x="11355578" y="0"/>
                    <a:pt x="11400282" y="43942"/>
                    <a:pt x="11400282" y="98552"/>
                  </a:cubicBezTo>
                  <a:lnTo>
                    <a:pt x="11387582" y="98552"/>
                  </a:lnTo>
                  <a:lnTo>
                    <a:pt x="11400282" y="98552"/>
                  </a:lnTo>
                  <a:lnTo>
                    <a:pt x="11400282" y="1951609"/>
                  </a:lnTo>
                  <a:lnTo>
                    <a:pt x="11387582" y="1951609"/>
                  </a:lnTo>
                  <a:lnTo>
                    <a:pt x="11400282" y="1951609"/>
                  </a:lnTo>
                  <a:cubicBezTo>
                    <a:pt x="11400282" y="2006092"/>
                    <a:pt x="11355705" y="2050161"/>
                    <a:pt x="11300841" y="2050161"/>
                  </a:cubicBezTo>
                  <a:lnTo>
                    <a:pt x="11300841" y="2037461"/>
                  </a:lnTo>
                  <a:lnTo>
                    <a:pt x="11300841" y="2050161"/>
                  </a:lnTo>
                  <a:lnTo>
                    <a:pt x="99441" y="2050161"/>
                  </a:lnTo>
                  <a:lnTo>
                    <a:pt x="99441" y="2037461"/>
                  </a:lnTo>
                  <a:lnTo>
                    <a:pt x="99441" y="2050161"/>
                  </a:lnTo>
                  <a:cubicBezTo>
                    <a:pt x="44704" y="2050161"/>
                    <a:pt x="0" y="2006219"/>
                    <a:pt x="0" y="1951609"/>
                  </a:cubicBezTo>
                  <a:lnTo>
                    <a:pt x="0" y="98552"/>
                  </a:lnTo>
                  <a:lnTo>
                    <a:pt x="12700" y="98552"/>
                  </a:lnTo>
                  <a:lnTo>
                    <a:pt x="0" y="98552"/>
                  </a:lnTo>
                  <a:moveTo>
                    <a:pt x="25400" y="98552"/>
                  </a:moveTo>
                  <a:lnTo>
                    <a:pt x="25400" y="1951609"/>
                  </a:lnTo>
                  <a:lnTo>
                    <a:pt x="12700" y="1951609"/>
                  </a:lnTo>
                  <a:lnTo>
                    <a:pt x="25400" y="1951609"/>
                  </a:lnTo>
                  <a:cubicBezTo>
                    <a:pt x="25400" y="1991868"/>
                    <a:pt x="58420" y="2024761"/>
                    <a:pt x="99441" y="2024761"/>
                  </a:cubicBezTo>
                  <a:lnTo>
                    <a:pt x="11300841" y="2024761"/>
                  </a:lnTo>
                  <a:cubicBezTo>
                    <a:pt x="11341862" y="2024761"/>
                    <a:pt x="11374882" y="1991868"/>
                    <a:pt x="11374882" y="1951609"/>
                  </a:cubicBezTo>
                  <a:lnTo>
                    <a:pt x="11374882" y="98552"/>
                  </a:lnTo>
                  <a:cubicBezTo>
                    <a:pt x="11374882" y="58293"/>
                    <a:pt x="11341862" y="25400"/>
                    <a:pt x="11300841" y="25400"/>
                  </a:cubicBezTo>
                  <a:lnTo>
                    <a:pt x="99441" y="25400"/>
                  </a:lnTo>
                  <a:lnTo>
                    <a:pt x="99441" y="12700"/>
                  </a:lnTo>
                  <a:lnTo>
                    <a:pt x="99441" y="25400"/>
                  </a:lnTo>
                  <a:cubicBezTo>
                    <a:pt x="58420" y="25400"/>
                    <a:pt x="25400" y="58293"/>
                    <a:pt x="25400" y="9855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6228" y="10642252"/>
            <a:ext cx="76200" cy="1518494"/>
            <a:chOff x="0" y="0"/>
            <a:chExt cx="101600" cy="2024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" cy="2024634"/>
            </a:xfrm>
            <a:custGeom>
              <a:avLst/>
              <a:gdLst/>
              <a:ahLst/>
              <a:cxnLst/>
              <a:rect r="r" b="b" t="t" l="l"/>
              <a:pathLst>
                <a:path h="2024634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973834"/>
                  </a:lnTo>
                  <a:cubicBezTo>
                    <a:pt x="101600" y="2001901"/>
                    <a:pt x="78867" y="2024634"/>
                    <a:pt x="50800" y="2024634"/>
                  </a:cubicBezTo>
                  <a:cubicBezTo>
                    <a:pt x="22733" y="2024634"/>
                    <a:pt x="0" y="2001901"/>
                    <a:pt x="0" y="197383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10972" y="10632727"/>
            <a:ext cx="8550325" cy="1537544"/>
            <a:chOff x="0" y="0"/>
            <a:chExt cx="11400433" cy="20500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1375136" cy="2024761"/>
            </a:xfrm>
            <a:custGeom>
              <a:avLst/>
              <a:gdLst/>
              <a:ahLst/>
              <a:cxnLst/>
              <a:rect r="r" b="b" t="t" l="l"/>
              <a:pathLst>
                <a:path h="2024761" w="11375136">
                  <a:moveTo>
                    <a:pt x="0" y="85852"/>
                  </a:moveTo>
                  <a:cubicBezTo>
                    <a:pt x="0" y="38354"/>
                    <a:pt x="38862" y="0"/>
                    <a:pt x="86741" y="0"/>
                  </a:cubicBezTo>
                  <a:lnTo>
                    <a:pt x="11288395" y="0"/>
                  </a:lnTo>
                  <a:cubicBezTo>
                    <a:pt x="11336274" y="0"/>
                    <a:pt x="11375136" y="38354"/>
                    <a:pt x="11375136" y="85852"/>
                  </a:cubicBezTo>
                  <a:lnTo>
                    <a:pt x="11375136" y="1938909"/>
                  </a:lnTo>
                  <a:cubicBezTo>
                    <a:pt x="11375136" y="1986280"/>
                    <a:pt x="11336274" y="2024761"/>
                    <a:pt x="11288395" y="2024761"/>
                  </a:cubicBezTo>
                  <a:lnTo>
                    <a:pt x="86741" y="2024761"/>
                  </a:lnTo>
                  <a:cubicBezTo>
                    <a:pt x="38862" y="2024761"/>
                    <a:pt x="0" y="1986407"/>
                    <a:pt x="0" y="193890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0536" cy="2050161"/>
            </a:xfrm>
            <a:custGeom>
              <a:avLst/>
              <a:gdLst/>
              <a:ahLst/>
              <a:cxnLst/>
              <a:rect r="r" b="b" t="t" l="l"/>
              <a:pathLst>
                <a:path h="2050161" w="11400536">
                  <a:moveTo>
                    <a:pt x="0" y="98552"/>
                  </a:moveTo>
                  <a:cubicBezTo>
                    <a:pt x="0" y="43942"/>
                    <a:pt x="44577" y="0"/>
                    <a:pt x="99441" y="0"/>
                  </a:cubicBezTo>
                  <a:lnTo>
                    <a:pt x="11301095" y="0"/>
                  </a:lnTo>
                  <a:lnTo>
                    <a:pt x="11301095" y="12700"/>
                  </a:lnTo>
                  <a:lnTo>
                    <a:pt x="11301095" y="0"/>
                  </a:lnTo>
                  <a:cubicBezTo>
                    <a:pt x="11355832" y="0"/>
                    <a:pt x="11400536" y="43942"/>
                    <a:pt x="11400536" y="98552"/>
                  </a:cubicBezTo>
                  <a:lnTo>
                    <a:pt x="11387836" y="98552"/>
                  </a:lnTo>
                  <a:lnTo>
                    <a:pt x="11400536" y="98552"/>
                  </a:lnTo>
                  <a:lnTo>
                    <a:pt x="11400536" y="1951609"/>
                  </a:lnTo>
                  <a:lnTo>
                    <a:pt x="11387836" y="1951609"/>
                  </a:lnTo>
                  <a:lnTo>
                    <a:pt x="11400536" y="1951609"/>
                  </a:lnTo>
                  <a:cubicBezTo>
                    <a:pt x="11400536" y="2006092"/>
                    <a:pt x="11355959" y="2050161"/>
                    <a:pt x="11301095" y="2050161"/>
                  </a:cubicBezTo>
                  <a:lnTo>
                    <a:pt x="11301095" y="2037461"/>
                  </a:lnTo>
                  <a:lnTo>
                    <a:pt x="11301095" y="2050161"/>
                  </a:lnTo>
                  <a:lnTo>
                    <a:pt x="99441" y="2050161"/>
                  </a:lnTo>
                  <a:lnTo>
                    <a:pt x="99441" y="2037461"/>
                  </a:lnTo>
                  <a:lnTo>
                    <a:pt x="99441" y="2050161"/>
                  </a:lnTo>
                  <a:cubicBezTo>
                    <a:pt x="44704" y="2050161"/>
                    <a:pt x="0" y="2006219"/>
                    <a:pt x="0" y="1951609"/>
                  </a:cubicBezTo>
                  <a:lnTo>
                    <a:pt x="0" y="98552"/>
                  </a:lnTo>
                  <a:lnTo>
                    <a:pt x="12700" y="98552"/>
                  </a:lnTo>
                  <a:lnTo>
                    <a:pt x="0" y="98552"/>
                  </a:lnTo>
                  <a:moveTo>
                    <a:pt x="25400" y="98552"/>
                  </a:moveTo>
                  <a:lnTo>
                    <a:pt x="25400" y="1951609"/>
                  </a:lnTo>
                  <a:lnTo>
                    <a:pt x="12700" y="1951609"/>
                  </a:lnTo>
                  <a:lnTo>
                    <a:pt x="25400" y="1951609"/>
                  </a:lnTo>
                  <a:cubicBezTo>
                    <a:pt x="25400" y="1991868"/>
                    <a:pt x="58420" y="2024761"/>
                    <a:pt x="99441" y="2024761"/>
                  </a:cubicBezTo>
                  <a:lnTo>
                    <a:pt x="11301095" y="2024761"/>
                  </a:lnTo>
                  <a:cubicBezTo>
                    <a:pt x="11342115" y="2024761"/>
                    <a:pt x="11375136" y="1991868"/>
                    <a:pt x="11375136" y="1951609"/>
                  </a:cubicBezTo>
                  <a:lnTo>
                    <a:pt x="11375136" y="98552"/>
                  </a:lnTo>
                  <a:cubicBezTo>
                    <a:pt x="11375136" y="58293"/>
                    <a:pt x="11342115" y="25400"/>
                    <a:pt x="11301095" y="25400"/>
                  </a:cubicBezTo>
                  <a:lnTo>
                    <a:pt x="99441" y="25400"/>
                  </a:lnTo>
                  <a:lnTo>
                    <a:pt x="99441" y="12700"/>
                  </a:lnTo>
                  <a:lnTo>
                    <a:pt x="99441" y="25400"/>
                  </a:lnTo>
                  <a:cubicBezTo>
                    <a:pt x="58420" y="25400"/>
                    <a:pt x="25400" y="58293"/>
                    <a:pt x="25400" y="98552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20498" y="10642252"/>
            <a:ext cx="76200" cy="1518494"/>
            <a:chOff x="0" y="0"/>
            <a:chExt cx="101600" cy="20246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2024634"/>
            </a:xfrm>
            <a:custGeom>
              <a:avLst/>
              <a:gdLst/>
              <a:ahLst/>
              <a:cxnLst/>
              <a:rect r="r" b="b" t="t" l="l"/>
              <a:pathLst>
                <a:path h="2024634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973834"/>
                  </a:lnTo>
                  <a:cubicBezTo>
                    <a:pt x="101600" y="2001901"/>
                    <a:pt x="78867" y="2024634"/>
                    <a:pt x="50800" y="2024634"/>
                  </a:cubicBezTo>
                  <a:cubicBezTo>
                    <a:pt x="22733" y="2024634"/>
                    <a:pt x="0" y="2001901"/>
                    <a:pt x="0" y="197383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59216" y="7217488"/>
            <a:ext cx="2766231" cy="2870279"/>
          </a:xfrm>
          <a:custGeom>
            <a:avLst/>
            <a:gdLst/>
            <a:ahLst/>
            <a:cxnLst/>
            <a:rect r="r" b="b" t="t" l="l"/>
            <a:pathLst>
              <a:path h="2870279" w="2766231">
                <a:moveTo>
                  <a:pt x="0" y="0"/>
                </a:moveTo>
                <a:lnTo>
                  <a:pt x="2766231" y="0"/>
                </a:lnTo>
                <a:lnTo>
                  <a:pt x="2766231" y="2870278"/>
                </a:lnTo>
                <a:lnTo>
                  <a:pt x="0" y="2870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78662" y="3140272"/>
            <a:ext cx="7382635" cy="5693858"/>
          </a:xfrm>
          <a:custGeom>
            <a:avLst/>
            <a:gdLst/>
            <a:ahLst/>
            <a:cxnLst/>
            <a:rect r="r" b="b" t="t" l="l"/>
            <a:pathLst>
              <a:path h="5693858" w="7382635">
                <a:moveTo>
                  <a:pt x="0" y="0"/>
                </a:moveTo>
                <a:lnTo>
                  <a:pt x="7382636" y="0"/>
                </a:lnTo>
                <a:lnTo>
                  <a:pt x="7382636" y="5693858"/>
                </a:lnTo>
                <a:lnTo>
                  <a:pt x="0" y="5693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09523" y="496181"/>
            <a:ext cx="3668953" cy="47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1"/>
              </a:lnSpc>
            </a:pPr>
            <a:r>
              <a:rPr lang="en-US" sz="287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1499" y="1932148"/>
            <a:ext cx="9450438" cy="6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7"/>
              </a:lnSpc>
            </a:pPr>
            <a:r>
              <a:rPr lang="en-US" sz="412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Introduction: The Challenge of Spam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6489" y="3229512"/>
            <a:ext cx="8540651" cy="229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4"/>
              </a:lnSpc>
            </a:pPr>
            <a:r>
              <a:rPr lang="en-US" sz="292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 the modern digital landscape, email remains a cornerstone of communication, serving as a primary channel for personal, professional, and commercial interactions.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296" y="5911001"/>
            <a:ext cx="8420844" cy="76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19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However, its ubiquity has made it a prime target for malicious activities.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622" y="10804923"/>
            <a:ext cx="1915418" cy="24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4622" y="11097965"/>
            <a:ext cx="8110537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Increasing volumes of unsolicited bulk emails (spam)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4622" y="11396811"/>
            <a:ext cx="8110537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Sophisticated phishing attempts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4622" y="11695659"/>
            <a:ext cx="8110537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Distribution of malware and viruses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68891" y="10804923"/>
            <a:ext cx="1915418" cy="24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The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68891" y="11097965"/>
            <a:ext cx="8110686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Development of robust spam detection systems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68891" y="11396811"/>
            <a:ext cx="8110686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Critical for maintaining email integrity and user trust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68891" y="11695659"/>
            <a:ext cx="8110686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874"/>
              </a:lnSpc>
              <a:buFont typeface="Arial"/>
              <a:buChar char="•"/>
            </a:pP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Objective: Accurately classify messages as </a:t>
            </a:r>
            <a:r>
              <a:rPr lang="en-US" b="true" sz="1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Spam</a:t>
            </a: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lang="en-US" b="true" sz="1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Ham</a:t>
            </a:r>
            <a:r>
              <a:rPr lang="en-US" sz="1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(legitimate email)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00186" y="3435023"/>
            <a:ext cx="3816582" cy="3816582"/>
          </a:xfrm>
          <a:custGeom>
            <a:avLst/>
            <a:gdLst/>
            <a:ahLst/>
            <a:cxnLst/>
            <a:rect r="r" b="b" t="t" l="l"/>
            <a:pathLst>
              <a:path h="3816582" w="3816582">
                <a:moveTo>
                  <a:pt x="0" y="0"/>
                </a:moveTo>
                <a:lnTo>
                  <a:pt x="3816583" y="0"/>
                </a:lnTo>
                <a:lnTo>
                  <a:pt x="3816583" y="3816583"/>
                </a:lnTo>
                <a:lnTo>
                  <a:pt x="0" y="38165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7804539" y="3872557"/>
            <a:ext cx="705594" cy="705594"/>
            <a:chOff x="0" y="0"/>
            <a:chExt cx="940792" cy="940792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940816" cy="940816"/>
            </a:xfrm>
            <a:custGeom>
              <a:avLst/>
              <a:gdLst/>
              <a:ahLst/>
              <a:cxnLst/>
              <a:rect r="r" b="b" t="t" l="l"/>
              <a:pathLst>
                <a:path h="940816" w="940816">
                  <a:moveTo>
                    <a:pt x="0" y="0"/>
                  </a:moveTo>
                  <a:lnTo>
                    <a:pt x="940816" y="0"/>
                  </a:lnTo>
                  <a:lnTo>
                    <a:pt x="940816" y="940816"/>
                  </a:lnTo>
                  <a:lnTo>
                    <a:pt x="0" y="940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174853" y="4067151"/>
            <a:ext cx="583365" cy="583365"/>
            <a:chOff x="0" y="0"/>
            <a:chExt cx="940792" cy="940792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40816" cy="940816"/>
            </a:xfrm>
            <a:custGeom>
              <a:avLst/>
              <a:gdLst/>
              <a:ahLst/>
              <a:cxnLst/>
              <a:rect r="r" b="b" t="t" l="l"/>
              <a:pathLst>
                <a:path h="940816" w="940816">
                  <a:moveTo>
                    <a:pt x="0" y="0"/>
                  </a:moveTo>
                  <a:lnTo>
                    <a:pt x="940816" y="0"/>
                  </a:lnTo>
                  <a:lnTo>
                    <a:pt x="940816" y="940816"/>
                  </a:lnTo>
                  <a:lnTo>
                    <a:pt x="0" y="940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23413" y="3743785"/>
            <a:ext cx="649982" cy="646732"/>
          </a:xfrm>
          <a:custGeom>
            <a:avLst/>
            <a:gdLst/>
            <a:ahLst/>
            <a:cxnLst/>
            <a:rect r="r" b="b" t="t" l="l"/>
            <a:pathLst>
              <a:path h="646732" w="649982">
                <a:moveTo>
                  <a:pt x="0" y="0"/>
                </a:moveTo>
                <a:lnTo>
                  <a:pt x="649981" y="0"/>
                </a:lnTo>
                <a:lnTo>
                  <a:pt x="649981" y="646732"/>
                </a:lnTo>
                <a:lnTo>
                  <a:pt x="0" y="646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13976" y="6352332"/>
            <a:ext cx="605585" cy="600286"/>
          </a:xfrm>
          <a:custGeom>
            <a:avLst/>
            <a:gdLst/>
            <a:ahLst/>
            <a:cxnLst/>
            <a:rect r="r" b="b" t="t" l="l"/>
            <a:pathLst>
              <a:path h="600286" w="605585">
                <a:moveTo>
                  <a:pt x="0" y="0"/>
                </a:moveTo>
                <a:lnTo>
                  <a:pt x="605585" y="0"/>
                </a:lnTo>
                <a:lnTo>
                  <a:pt x="605585" y="600286"/>
                </a:lnTo>
                <a:lnTo>
                  <a:pt x="0" y="6002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74025" y="637134"/>
            <a:ext cx="2939951" cy="37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3169" y="1220540"/>
            <a:ext cx="11746099" cy="99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7"/>
              </a:lnSpc>
            </a:pPr>
            <a:r>
              <a:rPr lang="en-US" sz="637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Tools &amp; Technologies Utilised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4119" y="2287715"/>
            <a:ext cx="16641664" cy="96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24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My </a:t>
            </a:r>
            <a:r>
              <a:rPr lang="en-US" sz="24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leveraged a suite of powerful, open-source tools and libraries, enabling efficient development, robust model training, and seamless deployment.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7881" y="4542917"/>
            <a:ext cx="2939951" cy="37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169" y="5129991"/>
            <a:ext cx="6583395" cy="348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701" indent="-205850" lvl="1">
              <a:lnSpc>
                <a:spcPts val="3089"/>
              </a:lnSpc>
              <a:buAutoNum type="arabicPeriod" startAt="1"/>
            </a:pPr>
            <a:r>
              <a:rPr lang="en-US" b="true" sz="190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Pandas</a:t>
            </a:r>
            <a:r>
              <a:rPr lang="en-US" sz="190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– used </a:t>
            </a:r>
            <a:r>
              <a:rPr lang="en-US" sz="190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 load, clean, and handle the dataset efficiently and also manage data.</a:t>
            </a:r>
          </a:p>
          <a:p>
            <a:pPr algn="l" marL="411701" indent="-205850" lvl="1">
              <a:lnSpc>
                <a:spcPts val="3089"/>
              </a:lnSpc>
              <a:buAutoNum type="arabicPeriod" startAt="1"/>
            </a:pPr>
            <a:r>
              <a:rPr lang="en-US" b="true" sz="190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scikit-learn (sklearn) </a:t>
            </a:r>
            <a:r>
              <a:rPr lang="en-US" sz="190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– Used to build and train machine learning models we used:</a:t>
            </a:r>
          </a:p>
          <a:p>
            <a:pPr algn="l" marL="411701" indent="-205850" lvl="1">
              <a:lnSpc>
                <a:spcPts val="3089"/>
              </a:lnSpc>
              <a:buFont typeface="Arial"/>
              <a:buChar char="•"/>
            </a:pPr>
            <a:r>
              <a:rPr lang="en-US" sz="190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CountVectorizer → </a:t>
            </a:r>
            <a:r>
              <a:rPr lang="en-US" sz="1906">
                <a:solidFill>
                  <a:srgbClr val="003399"/>
                </a:solidFill>
                <a:latin typeface="Inter"/>
                <a:ea typeface="Inter"/>
                <a:cs typeface="Inter"/>
                <a:sym typeface="Inter"/>
              </a:rPr>
              <a:t>Converts text data into numeric features using the Bag of Words model.</a:t>
            </a:r>
          </a:p>
          <a:p>
            <a:pPr algn="l" marL="411701" indent="-205850" lvl="1">
              <a:lnSpc>
                <a:spcPts val="3090"/>
              </a:lnSpc>
              <a:buFont typeface="Arial"/>
              <a:buChar char="•"/>
            </a:pPr>
            <a:r>
              <a:rPr lang="en-US" sz="190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train_test_split → </a:t>
            </a:r>
            <a:r>
              <a:rPr lang="en-US" sz="1906">
                <a:solidFill>
                  <a:srgbClr val="003399"/>
                </a:solidFill>
                <a:latin typeface="Inter"/>
                <a:ea typeface="Inter"/>
                <a:cs typeface="Inter"/>
                <a:sym typeface="Inter"/>
              </a:rPr>
              <a:t>Splits the dataset into training and testing sets for model evaluation.</a:t>
            </a:r>
          </a:p>
          <a:p>
            <a:pPr algn="l">
              <a:lnSpc>
                <a:spcPts val="308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614126" y="7509707"/>
            <a:ext cx="2939801" cy="3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Used Gemmini Pro 2.5 API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23589" y="4696544"/>
            <a:ext cx="2939951" cy="35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Nextjs &amp; </a:t>
            </a:r>
            <a:r>
              <a:rPr lang="en-US" sz="2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Flask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23589" y="5138266"/>
            <a:ext cx="5351264" cy="72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lightweight web framework for building the </a:t>
            </a:r>
            <a:r>
              <a:rPr lang="en-US" sz="1812">
                <a:solidFill>
                  <a:srgbClr val="003399"/>
                </a:solidFill>
                <a:latin typeface="Inter"/>
                <a:ea typeface="Inter"/>
                <a:cs typeface="Inter"/>
                <a:sym typeface="Inter"/>
              </a:rPr>
              <a:t>user interface</a:t>
            </a: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serving model predictions.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75259" y="4726571"/>
            <a:ext cx="2708563" cy="34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220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Render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75259" y="5145547"/>
            <a:ext cx="4930094" cy="69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17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Platform used for hosting the web application, providing live accessibility.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3169" y="9188649"/>
            <a:ext cx="9790807" cy="3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SMS Spam Collection dataset was instrumental for training and evaluating our model.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13976" y="7085968"/>
            <a:ext cx="2939951" cy="35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Gemini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8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53660" y="386359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2560" y="820461"/>
            <a:ext cx="15015865" cy="87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562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Methodology: The Spam Detection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2561" y="1729801"/>
            <a:ext cx="16842879" cy="88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32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My </a:t>
            </a:r>
            <a:r>
              <a:rPr lang="en-US" sz="232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approach followed a structured machine learning pipeline, from raw data to a fully deployed model, ensuring accuracy and efficiency in spam classification.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2560" y="3399830"/>
            <a:ext cx="478247" cy="3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22560" y="3788717"/>
            <a:ext cx="8318152" cy="28575"/>
            <a:chOff x="0" y="0"/>
            <a:chExt cx="1109087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90910" cy="38100"/>
            </a:xfrm>
            <a:custGeom>
              <a:avLst/>
              <a:gdLst/>
              <a:ahLst/>
              <a:cxnLst/>
              <a:rect r="r" b="b" t="t" l="l"/>
              <a:pathLst>
                <a:path h="38100" w="11090910">
                  <a:moveTo>
                    <a:pt x="0" y="0"/>
                  </a:moveTo>
                  <a:lnTo>
                    <a:pt x="11090910" y="0"/>
                  </a:lnTo>
                  <a:lnTo>
                    <a:pt x="110909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2560" y="3929955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Collection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2560" y="4328666"/>
            <a:ext cx="8318152" cy="72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Gathering the raw SMS Spam Collection dataset, comprising both legitimate and spam messages.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47137" y="3399830"/>
            <a:ext cx="654131" cy="3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47137" y="3788717"/>
            <a:ext cx="8318301" cy="28575"/>
            <a:chOff x="0" y="0"/>
            <a:chExt cx="11091068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91037" cy="38100"/>
            </a:xfrm>
            <a:custGeom>
              <a:avLst/>
              <a:gdLst/>
              <a:ahLst/>
              <a:cxnLst/>
              <a:rect r="r" b="b" t="t" l="l"/>
              <a:pathLst>
                <a:path h="38100" w="11091037">
                  <a:moveTo>
                    <a:pt x="0" y="0"/>
                  </a:moveTo>
                  <a:lnTo>
                    <a:pt x="11091037" y="0"/>
                  </a:lnTo>
                  <a:lnTo>
                    <a:pt x="110910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47137" y="3929955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47137" y="4328666"/>
            <a:ext cx="8318301" cy="72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Cleaning the text data: removing stop words, punctuation, and converting to lowercase for consistency.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560" y="5350371"/>
            <a:ext cx="590173" cy="3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2560" y="5739259"/>
            <a:ext cx="8318152" cy="28575"/>
            <a:chOff x="0" y="0"/>
            <a:chExt cx="1109087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90910" cy="38100"/>
            </a:xfrm>
            <a:custGeom>
              <a:avLst/>
              <a:gdLst/>
              <a:ahLst/>
              <a:cxnLst/>
              <a:rect r="r" b="b" t="t" l="l"/>
              <a:pathLst>
                <a:path h="38100" w="11090910">
                  <a:moveTo>
                    <a:pt x="0" y="0"/>
                  </a:moveTo>
                  <a:lnTo>
                    <a:pt x="11090910" y="0"/>
                  </a:lnTo>
                  <a:lnTo>
                    <a:pt x="110909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22560" y="5880498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Feature Extraction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2560" y="6279207"/>
            <a:ext cx="8318152" cy="72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Transforming text into numerical features using the Bag-of-Words (BoW) model with `CountVectorizer`.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47137" y="5350371"/>
            <a:ext cx="526215" cy="3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47137" y="5739259"/>
            <a:ext cx="8318301" cy="28575"/>
            <a:chOff x="0" y="0"/>
            <a:chExt cx="11091068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91037" cy="38100"/>
            </a:xfrm>
            <a:custGeom>
              <a:avLst/>
              <a:gdLst/>
              <a:ahLst/>
              <a:cxnLst/>
              <a:rect r="r" b="b" t="t" l="l"/>
              <a:pathLst>
                <a:path h="38100" w="11091037">
                  <a:moveTo>
                    <a:pt x="0" y="0"/>
                  </a:moveTo>
                  <a:lnTo>
                    <a:pt x="11091037" y="0"/>
                  </a:lnTo>
                  <a:lnTo>
                    <a:pt x="110910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247137" y="5880498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Model Training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7137" y="6279207"/>
            <a:ext cx="8318301" cy="63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Applying the Multinomial Naive Bayes algorithm to learn patterns from the processed data and check it.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2560" y="7300913"/>
            <a:ext cx="590173" cy="3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22560" y="7689800"/>
            <a:ext cx="8318152" cy="28575"/>
            <a:chOff x="0" y="0"/>
            <a:chExt cx="11090870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90910" cy="38100"/>
            </a:xfrm>
            <a:custGeom>
              <a:avLst/>
              <a:gdLst/>
              <a:ahLst/>
              <a:cxnLst/>
              <a:rect r="r" b="b" t="t" l="l"/>
              <a:pathLst>
                <a:path h="38100" w="11090910">
                  <a:moveTo>
                    <a:pt x="0" y="0"/>
                  </a:moveTo>
                  <a:lnTo>
                    <a:pt x="11090910" y="0"/>
                  </a:lnTo>
                  <a:lnTo>
                    <a:pt x="110909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22560" y="7831039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Evaluation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2560" y="8229749"/>
            <a:ext cx="8318152" cy="39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Assessing model performance using metrics: Accuracy, Precision, and Recall.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47137" y="7300913"/>
            <a:ext cx="830016" cy="3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06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47137" y="7689800"/>
            <a:ext cx="8318301" cy="28575"/>
            <a:chOff x="0" y="0"/>
            <a:chExt cx="11091068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91037" cy="38100"/>
            </a:xfrm>
            <a:custGeom>
              <a:avLst/>
              <a:gdLst/>
              <a:ahLst/>
              <a:cxnLst/>
              <a:rect r="r" b="b" t="t" l="l"/>
              <a:pathLst>
                <a:path h="38100" w="11091037">
                  <a:moveTo>
                    <a:pt x="0" y="0"/>
                  </a:moveTo>
                  <a:lnTo>
                    <a:pt x="11091037" y="0"/>
                  </a:lnTo>
                  <a:lnTo>
                    <a:pt x="110910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247137" y="7831039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Deployment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47137" y="8229749"/>
            <a:ext cx="8318301" cy="72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Integrating the trained model into a Flask web application and hosting it on Render for live access.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5418820" y="283766"/>
            <a:ext cx="1349008" cy="1489869"/>
          </a:xfrm>
          <a:custGeom>
            <a:avLst/>
            <a:gdLst/>
            <a:ahLst/>
            <a:cxnLst/>
            <a:rect r="r" b="b" t="t" l="l"/>
            <a:pathLst>
              <a:path h="1489869" w="1349008">
                <a:moveTo>
                  <a:pt x="0" y="0"/>
                </a:moveTo>
                <a:lnTo>
                  <a:pt x="1349008" y="0"/>
                </a:lnTo>
                <a:lnTo>
                  <a:pt x="1349008" y="1489868"/>
                </a:lnTo>
                <a:lnTo>
                  <a:pt x="0" y="1489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32228" y="2050328"/>
            <a:ext cx="6481828" cy="7564639"/>
          </a:xfrm>
          <a:custGeom>
            <a:avLst/>
            <a:gdLst/>
            <a:ahLst/>
            <a:cxnLst/>
            <a:rect r="r" b="b" t="t" l="l"/>
            <a:pathLst>
              <a:path h="7564639" w="6481828">
                <a:moveTo>
                  <a:pt x="0" y="0"/>
                </a:moveTo>
                <a:lnTo>
                  <a:pt x="6481828" y="0"/>
                </a:lnTo>
                <a:lnTo>
                  <a:pt x="6481828" y="7564639"/>
                </a:lnTo>
                <a:lnTo>
                  <a:pt x="0" y="7564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14740" y="3989075"/>
            <a:ext cx="3617488" cy="908894"/>
          </a:xfrm>
          <a:custGeom>
            <a:avLst/>
            <a:gdLst/>
            <a:ahLst/>
            <a:cxnLst/>
            <a:rect r="r" b="b" t="t" l="l"/>
            <a:pathLst>
              <a:path h="908894" w="3617488">
                <a:moveTo>
                  <a:pt x="0" y="0"/>
                </a:moveTo>
                <a:lnTo>
                  <a:pt x="3617488" y="0"/>
                </a:lnTo>
                <a:lnTo>
                  <a:pt x="3617488" y="908894"/>
                </a:lnTo>
                <a:lnTo>
                  <a:pt x="0" y="908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53660" y="386359"/>
            <a:ext cx="2580680" cy="34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4740" y="1000125"/>
            <a:ext cx="15015865" cy="87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562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Methodology: The Spam Detection Flow chart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2185" y="4115974"/>
            <a:ext cx="3242599" cy="49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5"/>
              </a:lnSpc>
            </a:pPr>
            <a:r>
              <a:rPr lang="en-US" sz="286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the Website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775256" y="2699659"/>
            <a:ext cx="6682961" cy="6682961"/>
            <a:chOff x="0" y="0"/>
            <a:chExt cx="9906000" cy="990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06000" cy="9906000"/>
            </a:xfrm>
            <a:custGeom>
              <a:avLst/>
              <a:gdLst/>
              <a:ahLst/>
              <a:cxnLst/>
              <a:rect r="r" b="b" t="t" l="l"/>
              <a:pathLst>
                <a:path h="9906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9906000"/>
                  </a:lnTo>
                  <a:lnTo>
                    <a:pt x="0" y="990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722" t="0" r="-4595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30765" y="480269"/>
            <a:ext cx="2226469" cy="28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292" y="927050"/>
            <a:ext cx="1271453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Implementation: Bringing the Model to Life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292" y="1895624"/>
            <a:ext cx="17041416" cy="37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19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My </a:t>
            </a:r>
            <a:r>
              <a:rPr lang="en-US" sz="19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culminates in a functional, user-friendly web application that demonstrates the practical application of our spam detection model.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3293" y="3388212"/>
            <a:ext cx="9177189" cy="47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Developed a web application using </a:t>
            </a:r>
            <a:r>
              <a:rPr lang="en-US" b="true" sz="249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</a:t>
            </a: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b="true" sz="249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Next</a:t>
            </a: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3293" y="4511734"/>
            <a:ext cx="9177189" cy="98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Features a Typescript and Tailwind Css interface for user interaction.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293" y="3949973"/>
            <a:ext cx="9177189" cy="47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Users can input messages into a text field.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3293" y="5503047"/>
            <a:ext cx="9177189" cy="98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backend model processes the input and predicts whether it's "Spam" or "Ham".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3293" y="6494359"/>
            <a:ext cx="9177189" cy="98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Successfully achieved a classification accuracy of </a:t>
            </a:r>
            <a:r>
              <a:rPr lang="en-US" sz="2499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over 95%</a:t>
            </a: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on the test dataset.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8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830584"/>
            <a:ext cx="8233401" cy="4484204"/>
            <a:chOff x="0" y="0"/>
            <a:chExt cx="149237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237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2374">
                  <a:moveTo>
                    <a:pt x="21627" y="0"/>
                  </a:moveTo>
                  <a:lnTo>
                    <a:pt x="1470747" y="0"/>
                  </a:lnTo>
                  <a:cubicBezTo>
                    <a:pt x="1476483" y="0"/>
                    <a:pt x="1481984" y="2279"/>
                    <a:pt x="1486040" y="6334"/>
                  </a:cubicBezTo>
                  <a:cubicBezTo>
                    <a:pt x="1490095" y="10390"/>
                    <a:pt x="1492374" y="15891"/>
                    <a:pt x="1492374" y="21627"/>
                  </a:cubicBezTo>
                  <a:lnTo>
                    <a:pt x="1492374" y="791173"/>
                  </a:lnTo>
                  <a:cubicBezTo>
                    <a:pt x="1492374" y="803117"/>
                    <a:pt x="1482691" y="812800"/>
                    <a:pt x="1470747" y="812800"/>
                  </a:cubicBezTo>
                  <a:lnTo>
                    <a:pt x="21627" y="812800"/>
                  </a:lnTo>
                  <a:cubicBezTo>
                    <a:pt x="9683" y="812800"/>
                    <a:pt x="0" y="803117"/>
                    <a:pt x="0" y="791173"/>
                  </a:cubicBezTo>
                  <a:lnTo>
                    <a:pt x="0" y="21627"/>
                  </a:lnTo>
                  <a:cubicBezTo>
                    <a:pt x="0" y="9683"/>
                    <a:pt x="9683" y="0"/>
                    <a:pt x="21627" y="0"/>
                  </a:cubicBezTo>
                  <a:close/>
                </a:path>
              </a:pathLst>
            </a:custGeom>
            <a:blipFill>
              <a:blip r:embed="rId4"/>
              <a:stretch>
                <a:fillRect l="-546" t="0" r="-54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843855" y="4973533"/>
            <a:ext cx="7867218" cy="4284767"/>
            <a:chOff x="0" y="0"/>
            <a:chExt cx="149237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2374" cy="812800"/>
            </a:xfrm>
            <a:custGeom>
              <a:avLst/>
              <a:gdLst/>
              <a:ahLst/>
              <a:cxnLst/>
              <a:rect r="r" b="b" t="t" l="l"/>
              <a:pathLst>
                <a:path h="812800" w="1492374">
                  <a:moveTo>
                    <a:pt x="22634" y="0"/>
                  </a:moveTo>
                  <a:lnTo>
                    <a:pt x="1469740" y="0"/>
                  </a:lnTo>
                  <a:cubicBezTo>
                    <a:pt x="1475743" y="0"/>
                    <a:pt x="1481500" y="2385"/>
                    <a:pt x="1485745" y="6629"/>
                  </a:cubicBezTo>
                  <a:cubicBezTo>
                    <a:pt x="1489989" y="10874"/>
                    <a:pt x="1492374" y="16631"/>
                    <a:pt x="1492374" y="22634"/>
                  </a:cubicBezTo>
                  <a:lnTo>
                    <a:pt x="1492374" y="790166"/>
                  </a:lnTo>
                  <a:cubicBezTo>
                    <a:pt x="1492374" y="796169"/>
                    <a:pt x="1489989" y="801926"/>
                    <a:pt x="1485745" y="806171"/>
                  </a:cubicBezTo>
                  <a:cubicBezTo>
                    <a:pt x="1481500" y="810415"/>
                    <a:pt x="1475743" y="812800"/>
                    <a:pt x="1469740" y="812800"/>
                  </a:cubicBezTo>
                  <a:lnTo>
                    <a:pt x="22634" y="812800"/>
                  </a:lnTo>
                  <a:cubicBezTo>
                    <a:pt x="16631" y="812800"/>
                    <a:pt x="10874" y="810415"/>
                    <a:pt x="6629" y="806171"/>
                  </a:cubicBezTo>
                  <a:cubicBezTo>
                    <a:pt x="2385" y="801926"/>
                    <a:pt x="0" y="796169"/>
                    <a:pt x="0" y="790166"/>
                  </a:cubicBezTo>
                  <a:lnTo>
                    <a:pt x="0" y="22634"/>
                  </a:lnTo>
                  <a:cubicBezTo>
                    <a:pt x="0" y="16631"/>
                    <a:pt x="2385" y="10874"/>
                    <a:pt x="6629" y="6629"/>
                  </a:cubicBezTo>
                  <a:cubicBezTo>
                    <a:pt x="10874" y="2385"/>
                    <a:pt x="16631" y="0"/>
                    <a:pt x="22634" y="0"/>
                  </a:cubicBezTo>
                  <a:close/>
                </a:path>
              </a:pathLst>
            </a:custGeom>
            <a:blipFill>
              <a:blip r:embed="rId5"/>
              <a:stretch>
                <a:fillRect l="-900" t="0" r="-90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030765" y="480269"/>
            <a:ext cx="2226469" cy="28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9087" y="749052"/>
            <a:ext cx="1271453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Implementation: Bringing the Model to Life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10733" y="1973336"/>
            <a:ext cx="5702738" cy="3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289" spc="80">
                <a:solidFill>
                  <a:srgbClr val="000000"/>
                </a:solidFill>
                <a:latin typeface="Schoolbell"/>
                <a:ea typeface="Schoolbell"/>
                <a:cs typeface="Schoolbell"/>
                <a:sym typeface="Schoolbell"/>
              </a:rPr>
              <a:t>visit - https://adreespamdetection.netlify.app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1012" y="4426227"/>
            <a:ext cx="872505" cy="32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b="true" sz="2000">
                <a:solidFill>
                  <a:srgbClr val="003399"/>
                </a:solidFill>
                <a:latin typeface="Inter Bold"/>
                <a:ea typeface="Inter Bold"/>
                <a:cs typeface="Inter Bold"/>
                <a:sym typeface="Inter Bold"/>
              </a:rPr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9158" y="1672076"/>
            <a:ext cx="14389683" cy="6942849"/>
          </a:xfrm>
          <a:custGeom>
            <a:avLst/>
            <a:gdLst/>
            <a:ahLst/>
            <a:cxnLst/>
            <a:rect r="r" b="b" t="t" l="l"/>
            <a:pathLst>
              <a:path h="6942849" w="14389683">
                <a:moveTo>
                  <a:pt x="0" y="0"/>
                </a:moveTo>
                <a:lnTo>
                  <a:pt x="14389684" y="0"/>
                </a:lnTo>
                <a:lnTo>
                  <a:pt x="14389684" y="6942848"/>
                </a:lnTo>
                <a:lnTo>
                  <a:pt x="0" y="694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09" r="-20438" b="-2380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06049" y="7446750"/>
            <a:ext cx="3222550" cy="2336349"/>
          </a:xfrm>
          <a:custGeom>
            <a:avLst/>
            <a:gdLst/>
            <a:ahLst/>
            <a:cxnLst/>
            <a:rect r="r" b="b" t="t" l="l"/>
            <a:pathLst>
              <a:path h="2336349" w="3222550">
                <a:moveTo>
                  <a:pt x="0" y="0"/>
                </a:moveTo>
                <a:lnTo>
                  <a:pt x="3222550" y="0"/>
                </a:lnTo>
                <a:lnTo>
                  <a:pt x="3222550" y="2336349"/>
                </a:lnTo>
                <a:lnTo>
                  <a:pt x="0" y="2336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30765" y="480269"/>
            <a:ext cx="2226469" cy="28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16565" y="706487"/>
            <a:ext cx="3254723" cy="41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1275" y="1354485"/>
            <a:ext cx="14517731" cy="11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2"/>
              </a:lnSpc>
            </a:pPr>
            <a:r>
              <a:rPr lang="en-US" sz="7062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Results &amp; Discussion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1275" y="2810767"/>
            <a:ext cx="16465451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performance metrics underscore the effectiveness of our chosen methodology and the model's reliability in distinguishing between spam and legitimate messages.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1275" y="4267200"/>
            <a:ext cx="5271492" cy="7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&gt;95%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19585" y="5327897"/>
            <a:ext cx="3254723" cy="41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Accuracy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1275" y="5814566"/>
            <a:ext cx="5271492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Overall correct classification rate, indicating strong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8105" y="4267200"/>
            <a:ext cx="5271641" cy="7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Strong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16565" y="5327897"/>
            <a:ext cx="3254723" cy="41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Precision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8105" y="5814566"/>
            <a:ext cx="5271641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 rate of correctly identified spam messages, minimising false positives.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05085" y="4267200"/>
            <a:ext cx="5271641" cy="7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Strong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13544" y="5327897"/>
            <a:ext cx="3254722" cy="41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Recall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05085" y="5814566"/>
            <a:ext cx="5271641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Excellent ability to detect actual spam messages, minimising false negatives.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1800" y="7233791"/>
            <a:ext cx="16074926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Multinomial Naive Bayes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classifier proved exceptionally effective for text classification tasks, particularly given its probabilistic nature and suitability for discrete features like word counts.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1275" y="7026622"/>
            <a:ext cx="28575" cy="1419225"/>
            <a:chOff x="0" y="0"/>
            <a:chExt cx="38100" cy="1892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1892300"/>
            </a:xfrm>
            <a:custGeom>
              <a:avLst/>
              <a:gdLst/>
              <a:ahLst/>
              <a:cxnLst/>
              <a:rect r="r" b="b" t="t" l="l"/>
              <a:pathLst>
                <a:path h="18923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892300"/>
                  </a:lnTo>
                  <a:lnTo>
                    <a:pt x="0" y="18923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11275" y="8653016"/>
            <a:ext cx="16465451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model is not only accurate but also </a:t>
            </a:r>
            <a:r>
              <a:rPr lang="en-US" sz="20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lightweight and fast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making it suitable for real-time spam detection without significant computational overhead.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8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03824" y="2479476"/>
            <a:ext cx="6534176" cy="6493337"/>
          </a:xfrm>
          <a:custGeom>
            <a:avLst/>
            <a:gdLst/>
            <a:ahLst/>
            <a:cxnLst/>
            <a:rect r="r" b="b" t="t" l="l"/>
            <a:pathLst>
              <a:path h="6493337" w="6534176">
                <a:moveTo>
                  <a:pt x="0" y="0"/>
                </a:moveTo>
                <a:lnTo>
                  <a:pt x="6534176" y="0"/>
                </a:lnTo>
                <a:lnTo>
                  <a:pt x="6534176" y="6493337"/>
                </a:lnTo>
                <a:lnTo>
                  <a:pt x="0" y="649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00904" y="2460426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0417" y="3357401"/>
            <a:ext cx="4658675" cy="120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4951362"/>
            <a:ext cx="94455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 successfully developed and implemented an email spam detection system capable of accurately classifying messages with high efficacy.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6177557"/>
            <a:ext cx="9445526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project provided invaluable experience in machine learning pipeline development, web application deployment, and practical problem-solving.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8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8974" y="709761"/>
            <a:ext cx="3269902" cy="41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Chapter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591" y="1360885"/>
            <a:ext cx="16456819" cy="110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5"/>
              </a:lnSpc>
            </a:pPr>
            <a:r>
              <a:rPr lang="en-US" sz="7062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Future Scope: Enhancements &amp; Expansion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591" y="3952280"/>
            <a:ext cx="16456819" cy="92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While the current system performs commendably, there are several avenues for future enhancement to further improve its capabilities and applicability.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5591" y="5561559"/>
            <a:ext cx="5311229" cy="4010769"/>
            <a:chOff x="0" y="0"/>
            <a:chExt cx="7081638" cy="53476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81648" cy="5347716"/>
            </a:xfrm>
            <a:custGeom>
              <a:avLst/>
              <a:gdLst/>
              <a:ahLst/>
              <a:cxnLst/>
              <a:rect r="r" b="b" t="t" l="l"/>
              <a:pathLst>
                <a:path h="5347716" w="708164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98767" y="0"/>
                  </a:lnTo>
                  <a:cubicBezTo>
                    <a:pt x="6999732" y="0"/>
                    <a:pt x="7081648" y="81915"/>
                    <a:pt x="7081648" y="182880"/>
                  </a:cubicBezTo>
                  <a:lnTo>
                    <a:pt x="7081648" y="5164836"/>
                  </a:lnTo>
                  <a:cubicBezTo>
                    <a:pt x="7081648" y="5265801"/>
                    <a:pt x="6999732" y="5347716"/>
                    <a:pt x="6898767" y="5347716"/>
                  </a:cubicBezTo>
                  <a:lnTo>
                    <a:pt x="182880" y="5347716"/>
                  </a:lnTo>
                  <a:cubicBezTo>
                    <a:pt x="81915" y="5347716"/>
                    <a:pt x="0" y="5265801"/>
                    <a:pt x="0" y="516483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5591" y="5532984"/>
            <a:ext cx="5311229" cy="114300"/>
            <a:chOff x="0" y="0"/>
            <a:chExt cx="7081638" cy="15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81647" cy="152400"/>
            </a:xfrm>
            <a:custGeom>
              <a:avLst/>
              <a:gdLst/>
              <a:ahLst/>
              <a:cxnLst/>
              <a:rect r="r" b="b" t="t" l="l"/>
              <a:pathLst>
                <a:path h="152400" w="7081647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05447" y="0"/>
                  </a:lnTo>
                  <a:cubicBezTo>
                    <a:pt x="7047484" y="0"/>
                    <a:pt x="7081647" y="34163"/>
                    <a:pt x="7081647" y="76200"/>
                  </a:cubicBezTo>
                  <a:cubicBezTo>
                    <a:pt x="7081647" y="118237"/>
                    <a:pt x="7047484" y="152400"/>
                    <a:pt x="7005447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78745" y="5169247"/>
            <a:ext cx="784771" cy="784771"/>
            <a:chOff x="0" y="0"/>
            <a:chExt cx="1046362" cy="10463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480" cy="1046480"/>
            </a:xfrm>
            <a:custGeom>
              <a:avLst/>
              <a:gdLst/>
              <a:ahLst/>
              <a:cxnLst/>
              <a:rect r="r" b="b" t="t" l="l"/>
              <a:pathLst>
                <a:path h="1046480" w="1046480">
                  <a:moveTo>
                    <a:pt x="0" y="523240"/>
                  </a:moveTo>
                  <a:cubicBezTo>
                    <a:pt x="0" y="234188"/>
                    <a:pt x="234188" y="0"/>
                    <a:pt x="523240" y="0"/>
                  </a:cubicBezTo>
                  <a:cubicBezTo>
                    <a:pt x="812292" y="0"/>
                    <a:pt x="1046480" y="234188"/>
                    <a:pt x="1046480" y="523240"/>
                  </a:cubicBezTo>
                  <a:cubicBezTo>
                    <a:pt x="1046480" y="812292"/>
                    <a:pt x="812292" y="1046480"/>
                    <a:pt x="523240" y="1046480"/>
                  </a:cubicBezTo>
                  <a:cubicBezTo>
                    <a:pt x="234188" y="1046480"/>
                    <a:pt x="0" y="812165"/>
                    <a:pt x="0" y="52324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414191" y="5365402"/>
            <a:ext cx="313879" cy="392311"/>
            <a:chOff x="0" y="0"/>
            <a:chExt cx="418505" cy="52308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18465" cy="523113"/>
            </a:xfrm>
            <a:custGeom>
              <a:avLst/>
              <a:gdLst/>
              <a:ahLst/>
              <a:cxnLst/>
              <a:rect r="r" b="b" t="t" l="l"/>
              <a:pathLst>
                <a:path h="523113" w="418465">
                  <a:moveTo>
                    <a:pt x="0" y="0"/>
                  </a:moveTo>
                  <a:lnTo>
                    <a:pt x="418465" y="0"/>
                  </a:lnTo>
                  <a:lnTo>
                    <a:pt x="418465" y="523113"/>
                  </a:lnTo>
                  <a:lnTo>
                    <a:pt x="0" y="523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0" t="0" r="-309" b="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5656" y="6205984"/>
            <a:ext cx="4731098" cy="8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Feature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5656" y="7104012"/>
            <a:ext cx="4731098" cy="217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Explore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TF-IDF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(Term Frequency-Inverse Document Frequency) for weighting word importance, or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Word Embeddings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(e.g., Word2Vec, GloVe) for capturing semantic relationships.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88311" y="5561559"/>
            <a:ext cx="5311229" cy="4010769"/>
            <a:chOff x="0" y="0"/>
            <a:chExt cx="7081638" cy="53476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81648" cy="5347716"/>
            </a:xfrm>
            <a:custGeom>
              <a:avLst/>
              <a:gdLst/>
              <a:ahLst/>
              <a:cxnLst/>
              <a:rect r="r" b="b" t="t" l="l"/>
              <a:pathLst>
                <a:path h="5347716" w="708164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98767" y="0"/>
                  </a:lnTo>
                  <a:cubicBezTo>
                    <a:pt x="6999732" y="0"/>
                    <a:pt x="7081648" y="81915"/>
                    <a:pt x="7081648" y="182880"/>
                  </a:cubicBezTo>
                  <a:lnTo>
                    <a:pt x="7081648" y="5164836"/>
                  </a:lnTo>
                  <a:cubicBezTo>
                    <a:pt x="7081648" y="5265801"/>
                    <a:pt x="6999732" y="5347716"/>
                    <a:pt x="6898767" y="5347716"/>
                  </a:cubicBezTo>
                  <a:lnTo>
                    <a:pt x="182880" y="5347716"/>
                  </a:lnTo>
                  <a:cubicBezTo>
                    <a:pt x="81915" y="5347716"/>
                    <a:pt x="0" y="5265801"/>
                    <a:pt x="0" y="516483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88311" y="5532984"/>
            <a:ext cx="5311229" cy="114300"/>
            <a:chOff x="0" y="0"/>
            <a:chExt cx="7081638" cy="15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1647" cy="152400"/>
            </a:xfrm>
            <a:custGeom>
              <a:avLst/>
              <a:gdLst/>
              <a:ahLst/>
              <a:cxnLst/>
              <a:rect r="r" b="b" t="t" l="l"/>
              <a:pathLst>
                <a:path h="152400" w="7081647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05447" y="0"/>
                  </a:lnTo>
                  <a:cubicBezTo>
                    <a:pt x="7047484" y="0"/>
                    <a:pt x="7081647" y="34163"/>
                    <a:pt x="7081647" y="76200"/>
                  </a:cubicBezTo>
                  <a:cubicBezTo>
                    <a:pt x="7081647" y="118237"/>
                    <a:pt x="7047484" y="152400"/>
                    <a:pt x="7005447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751466" y="5169247"/>
            <a:ext cx="784771" cy="784771"/>
            <a:chOff x="0" y="0"/>
            <a:chExt cx="1046362" cy="10463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6480" cy="1046480"/>
            </a:xfrm>
            <a:custGeom>
              <a:avLst/>
              <a:gdLst/>
              <a:ahLst/>
              <a:cxnLst/>
              <a:rect r="r" b="b" t="t" l="l"/>
              <a:pathLst>
                <a:path h="1046480" w="1046480">
                  <a:moveTo>
                    <a:pt x="0" y="523240"/>
                  </a:moveTo>
                  <a:cubicBezTo>
                    <a:pt x="0" y="234188"/>
                    <a:pt x="234188" y="0"/>
                    <a:pt x="523240" y="0"/>
                  </a:cubicBezTo>
                  <a:cubicBezTo>
                    <a:pt x="812292" y="0"/>
                    <a:pt x="1046480" y="234188"/>
                    <a:pt x="1046480" y="523240"/>
                  </a:cubicBezTo>
                  <a:cubicBezTo>
                    <a:pt x="1046480" y="812292"/>
                    <a:pt x="812292" y="1046480"/>
                    <a:pt x="523240" y="1046480"/>
                  </a:cubicBezTo>
                  <a:cubicBezTo>
                    <a:pt x="234188" y="1046480"/>
                    <a:pt x="0" y="812165"/>
                    <a:pt x="0" y="52324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8986912" y="5365402"/>
            <a:ext cx="313879" cy="392311"/>
            <a:chOff x="0" y="0"/>
            <a:chExt cx="418505" cy="52308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18465" cy="523113"/>
            </a:xfrm>
            <a:custGeom>
              <a:avLst/>
              <a:gdLst/>
              <a:ahLst/>
              <a:cxnLst/>
              <a:rect r="r" b="b" t="t" l="l"/>
              <a:pathLst>
                <a:path h="523113" w="418465">
                  <a:moveTo>
                    <a:pt x="0" y="0"/>
                  </a:moveTo>
                  <a:lnTo>
                    <a:pt x="418465" y="0"/>
                  </a:lnTo>
                  <a:lnTo>
                    <a:pt x="418465" y="523113"/>
                  </a:lnTo>
                  <a:lnTo>
                    <a:pt x="0" y="523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0" t="0" r="-309" b="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778377" y="6205984"/>
            <a:ext cx="3575149" cy="41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Learning Models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78377" y="6695331"/>
            <a:ext cx="4731098" cy="175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LSTM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(Long Short-Term Memory) or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Transformer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networks for more complex pattern recognition in sequential data.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1031" y="5561559"/>
            <a:ext cx="5311229" cy="4010769"/>
            <a:chOff x="0" y="0"/>
            <a:chExt cx="7081638" cy="53476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81648" cy="5347716"/>
            </a:xfrm>
            <a:custGeom>
              <a:avLst/>
              <a:gdLst/>
              <a:ahLst/>
              <a:cxnLst/>
              <a:rect r="r" b="b" t="t" l="l"/>
              <a:pathLst>
                <a:path h="5347716" w="708164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98767" y="0"/>
                  </a:lnTo>
                  <a:cubicBezTo>
                    <a:pt x="6999732" y="0"/>
                    <a:pt x="7081648" y="81915"/>
                    <a:pt x="7081648" y="182880"/>
                  </a:cubicBezTo>
                  <a:lnTo>
                    <a:pt x="7081648" y="5164836"/>
                  </a:lnTo>
                  <a:cubicBezTo>
                    <a:pt x="7081648" y="5265801"/>
                    <a:pt x="6999732" y="5347716"/>
                    <a:pt x="6898767" y="5347716"/>
                  </a:cubicBezTo>
                  <a:lnTo>
                    <a:pt x="182880" y="5347716"/>
                  </a:lnTo>
                  <a:cubicBezTo>
                    <a:pt x="81915" y="5347716"/>
                    <a:pt x="0" y="5265801"/>
                    <a:pt x="0" y="516483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061031" y="5532984"/>
            <a:ext cx="5311229" cy="114300"/>
            <a:chOff x="0" y="0"/>
            <a:chExt cx="7081638" cy="15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81647" cy="152400"/>
            </a:xfrm>
            <a:custGeom>
              <a:avLst/>
              <a:gdLst/>
              <a:ahLst/>
              <a:cxnLst/>
              <a:rect r="r" b="b" t="t" l="l"/>
              <a:pathLst>
                <a:path h="152400" w="7081647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05447" y="0"/>
                  </a:lnTo>
                  <a:cubicBezTo>
                    <a:pt x="7047484" y="0"/>
                    <a:pt x="7081647" y="34163"/>
                    <a:pt x="7081647" y="76200"/>
                  </a:cubicBezTo>
                  <a:cubicBezTo>
                    <a:pt x="7081647" y="118237"/>
                    <a:pt x="7047484" y="152400"/>
                    <a:pt x="7005447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24186" y="5169247"/>
            <a:ext cx="784771" cy="784771"/>
            <a:chOff x="0" y="0"/>
            <a:chExt cx="1046362" cy="10463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6480" cy="1046480"/>
            </a:xfrm>
            <a:custGeom>
              <a:avLst/>
              <a:gdLst/>
              <a:ahLst/>
              <a:cxnLst/>
              <a:rect r="r" b="b" t="t" l="l"/>
              <a:pathLst>
                <a:path h="1046480" w="1046480">
                  <a:moveTo>
                    <a:pt x="0" y="523240"/>
                  </a:moveTo>
                  <a:cubicBezTo>
                    <a:pt x="0" y="234188"/>
                    <a:pt x="234188" y="0"/>
                    <a:pt x="523240" y="0"/>
                  </a:cubicBezTo>
                  <a:cubicBezTo>
                    <a:pt x="812292" y="0"/>
                    <a:pt x="1046480" y="234188"/>
                    <a:pt x="1046480" y="523240"/>
                  </a:cubicBezTo>
                  <a:cubicBezTo>
                    <a:pt x="1046480" y="812292"/>
                    <a:pt x="812292" y="1046480"/>
                    <a:pt x="523240" y="1046480"/>
                  </a:cubicBezTo>
                  <a:cubicBezTo>
                    <a:pt x="234188" y="1046480"/>
                    <a:pt x="0" y="812165"/>
                    <a:pt x="0" y="52324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4559632" y="5365402"/>
            <a:ext cx="313879" cy="392311"/>
            <a:chOff x="0" y="0"/>
            <a:chExt cx="418505" cy="52308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18465" cy="523113"/>
            </a:xfrm>
            <a:custGeom>
              <a:avLst/>
              <a:gdLst/>
              <a:ahLst/>
              <a:cxnLst/>
              <a:rect r="r" b="b" t="t" l="l"/>
              <a:pathLst>
                <a:path h="523113" w="418465">
                  <a:moveTo>
                    <a:pt x="0" y="0"/>
                  </a:moveTo>
                  <a:lnTo>
                    <a:pt x="418465" y="0"/>
                  </a:lnTo>
                  <a:lnTo>
                    <a:pt x="418465" y="523113"/>
                  </a:lnTo>
                  <a:lnTo>
                    <a:pt x="0" y="523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00" t="0" r="-309" b="5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351098" y="6205984"/>
            <a:ext cx="4731097" cy="39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Real-World Integration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51098" y="6695331"/>
            <a:ext cx="4731097" cy="175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 APIs or plugins for direct integration with popular email platforms (e.g., Gmail, Outlook) for live spam filtering.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00814" y="578495"/>
            <a:ext cx="2886224" cy="37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Takeaways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8136" y="1188988"/>
            <a:ext cx="10165556" cy="9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2"/>
              </a:lnSpc>
            </a:pPr>
            <a:r>
              <a:rPr lang="en-US" sz="6250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Summarising Our Journey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136" y="2502545"/>
            <a:ext cx="16671726" cy="43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project successfully demonstrated the power of machine learning in addressing real-world cybersecurity challenges.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3374" y="3193405"/>
            <a:ext cx="933004" cy="1394817"/>
            <a:chOff x="0" y="0"/>
            <a:chExt cx="1244005" cy="18597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231265" cy="1847088"/>
            </a:xfrm>
            <a:custGeom>
              <a:avLst/>
              <a:gdLst/>
              <a:ahLst/>
              <a:cxnLst/>
              <a:rect r="r" b="b" t="t" l="l"/>
              <a:pathLst>
                <a:path h="1847088" w="1231265">
                  <a:moveTo>
                    <a:pt x="0" y="617728"/>
                  </a:moveTo>
                  <a:cubicBezTo>
                    <a:pt x="0" y="276606"/>
                    <a:pt x="275590" y="0"/>
                    <a:pt x="615696" y="0"/>
                  </a:cubicBezTo>
                  <a:cubicBezTo>
                    <a:pt x="955802" y="0"/>
                    <a:pt x="1231265" y="276606"/>
                    <a:pt x="1231265" y="617728"/>
                  </a:cubicBezTo>
                  <a:lnTo>
                    <a:pt x="1231265" y="1229360"/>
                  </a:lnTo>
                  <a:cubicBezTo>
                    <a:pt x="1231265" y="1570482"/>
                    <a:pt x="955675" y="1847088"/>
                    <a:pt x="615569" y="1847088"/>
                  </a:cubicBezTo>
                  <a:cubicBezTo>
                    <a:pt x="275463" y="1847088"/>
                    <a:pt x="0" y="1570482"/>
                    <a:pt x="0" y="122936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3965" cy="1859788"/>
            </a:xfrm>
            <a:custGeom>
              <a:avLst/>
              <a:gdLst/>
              <a:ahLst/>
              <a:cxnLst/>
              <a:rect r="r" b="b" t="t" l="l"/>
              <a:pathLst>
                <a:path h="1859788" w="1243965">
                  <a:moveTo>
                    <a:pt x="0" y="624078"/>
                  </a:moveTo>
                  <a:cubicBezTo>
                    <a:pt x="0" y="279400"/>
                    <a:pt x="278511" y="0"/>
                    <a:pt x="622046" y="0"/>
                  </a:cubicBezTo>
                  <a:cubicBezTo>
                    <a:pt x="623951" y="0"/>
                    <a:pt x="625856" y="889"/>
                    <a:pt x="626999" y="2413"/>
                  </a:cubicBezTo>
                  <a:lnTo>
                    <a:pt x="622046" y="6350"/>
                  </a:lnTo>
                  <a:lnTo>
                    <a:pt x="622046" y="0"/>
                  </a:lnTo>
                  <a:lnTo>
                    <a:pt x="622046" y="6350"/>
                  </a:lnTo>
                  <a:lnTo>
                    <a:pt x="622046" y="0"/>
                  </a:lnTo>
                  <a:cubicBezTo>
                    <a:pt x="965581" y="0"/>
                    <a:pt x="1243965" y="279400"/>
                    <a:pt x="1243965" y="624078"/>
                  </a:cubicBezTo>
                  <a:lnTo>
                    <a:pt x="1243965" y="1235710"/>
                  </a:lnTo>
                  <a:lnTo>
                    <a:pt x="1237615" y="1235710"/>
                  </a:lnTo>
                  <a:lnTo>
                    <a:pt x="1243965" y="1235710"/>
                  </a:lnTo>
                  <a:cubicBezTo>
                    <a:pt x="1243965" y="1580388"/>
                    <a:pt x="965454" y="1859788"/>
                    <a:pt x="621919" y="1859788"/>
                  </a:cubicBezTo>
                  <a:lnTo>
                    <a:pt x="621919" y="1853438"/>
                  </a:lnTo>
                  <a:lnTo>
                    <a:pt x="621919" y="1847088"/>
                  </a:lnTo>
                  <a:lnTo>
                    <a:pt x="621919" y="1853438"/>
                  </a:lnTo>
                  <a:lnTo>
                    <a:pt x="621919" y="1859788"/>
                  </a:lnTo>
                  <a:cubicBezTo>
                    <a:pt x="278511" y="1859788"/>
                    <a:pt x="0" y="1580261"/>
                    <a:pt x="0" y="1235710"/>
                  </a:cubicBezTo>
                  <a:lnTo>
                    <a:pt x="0" y="624078"/>
                  </a:lnTo>
                  <a:lnTo>
                    <a:pt x="6350" y="624078"/>
                  </a:lnTo>
                  <a:lnTo>
                    <a:pt x="0" y="624078"/>
                  </a:lnTo>
                  <a:moveTo>
                    <a:pt x="12700" y="624078"/>
                  </a:moveTo>
                  <a:lnTo>
                    <a:pt x="12700" y="1235710"/>
                  </a:lnTo>
                  <a:lnTo>
                    <a:pt x="6350" y="1235710"/>
                  </a:lnTo>
                  <a:lnTo>
                    <a:pt x="12700" y="1235710"/>
                  </a:lnTo>
                  <a:cubicBezTo>
                    <a:pt x="12700" y="1573403"/>
                    <a:pt x="285496" y="1847088"/>
                    <a:pt x="622046" y="1847088"/>
                  </a:cubicBezTo>
                  <a:cubicBezTo>
                    <a:pt x="625602" y="1847088"/>
                    <a:pt x="628396" y="1849882"/>
                    <a:pt x="628396" y="1853438"/>
                  </a:cubicBezTo>
                  <a:cubicBezTo>
                    <a:pt x="628396" y="1856994"/>
                    <a:pt x="625602" y="1859788"/>
                    <a:pt x="622046" y="1859788"/>
                  </a:cubicBezTo>
                  <a:cubicBezTo>
                    <a:pt x="618490" y="1859788"/>
                    <a:pt x="615696" y="1856994"/>
                    <a:pt x="615696" y="1853438"/>
                  </a:cubicBezTo>
                  <a:cubicBezTo>
                    <a:pt x="615696" y="1849882"/>
                    <a:pt x="618490" y="1847088"/>
                    <a:pt x="622046" y="1847088"/>
                  </a:cubicBezTo>
                  <a:cubicBezTo>
                    <a:pt x="958596" y="1847088"/>
                    <a:pt x="1231392" y="1573403"/>
                    <a:pt x="1231392" y="1235710"/>
                  </a:cubicBezTo>
                  <a:lnTo>
                    <a:pt x="1231392" y="624078"/>
                  </a:lnTo>
                  <a:lnTo>
                    <a:pt x="1237742" y="624078"/>
                  </a:lnTo>
                  <a:lnTo>
                    <a:pt x="1231392" y="624078"/>
                  </a:lnTo>
                  <a:cubicBezTo>
                    <a:pt x="1231265" y="286385"/>
                    <a:pt x="958469" y="12700"/>
                    <a:pt x="622046" y="12700"/>
                  </a:cubicBezTo>
                  <a:cubicBezTo>
                    <a:pt x="620141" y="12700"/>
                    <a:pt x="618236" y="11811"/>
                    <a:pt x="617093" y="10287"/>
                  </a:cubicBezTo>
                  <a:lnTo>
                    <a:pt x="622046" y="6350"/>
                  </a:lnTo>
                  <a:lnTo>
                    <a:pt x="622046" y="12700"/>
                  </a:lnTo>
                  <a:cubicBezTo>
                    <a:pt x="285496" y="12700"/>
                    <a:pt x="12700" y="286385"/>
                    <a:pt x="12700" y="62407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6715" y="3721894"/>
            <a:ext cx="346322" cy="38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2447" y="3409950"/>
            <a:ext cx="3257253" cy="37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Effective Classification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62447" y="3861346"/>
            <a:ext cx="15517416" cy="43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Achieved high accuracy in distinguishing spam from ham messages using classical ML.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3374" y="4809530"/>
            <a:ext cx="933004" cy="1394817"/>
            <a:chOff x="0" y="0"/>
            <a:chExt cx="1244005" cy="18597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231265" cy="1847088"/>
            </a:xfrm>
            <a:custGeom>
              <a:avLst/>
              <a:gdLst/>
              <a:ahLst/>
              <a:cxnLst/>
              <a:rect r="r" b="b" t="t" l="l"/>
              <a:pathLst>
                <a:path h="1847088" w="1231265">
                  <a:moveTo>
                    <a:pt x="0" y="617728"/>
                  </a:moveTo>
                  <a:cubicBezTo>
                    <a:pt x="0" y="276606"/>
                    <a:pt x="275590" y="0"/>
                    <a:pt x="615696" y="0"/>
                  </a:cubicBezTo>
                  <a:cubicBezTo>
                    <a:pt x="955802" y="0"/>
                    <a:pt x="1231265" y="276606"/>
                    <a:pt x="1231265" y="617728"/>
                  </a:cubicBezTo>
                  <a:lnTo>
                    <a:pt x="1231265" y="1229360"/>
                  </a:lnTo>
                  <a:cubicBezTo>
                    <a:pt x="1231265" y="1570482"/>
                    <a:pt x="955675" y="1847088"/>
                    <a:pt x="615569" y="1847088"/>
                  </a:cubicBezTo>
                  <a:cubicBezTo>
                    <a:pt x="275463" y="1847088"/>
                    <a:pt x="0" y="1570482"/>
                    <a:pt x="0" y="122936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3965" cy="1859788"/>
            </a:xfrm>
            <a:custGeom>
              <a:avLst/>
              <a:gdLst/>
              <a:ahLst/>
              <a:cxnLst/>
              <a:rect r="r" b="b" t="t" l="l"/>
              <a:pathLst>
                <a:path h="1859788" w="1243965">
                  <a:moveTo>
                    <a:pt x="0" y="624078"/>
                  </a:moveTo>
                  <a:cubicBezTo>
                    <a:pt x="0" y="279400"/>
                    <a:pt x="278511" y="0"/>
                    <a:pt x="622046" y="0"/>
                  </a:cubicBezTo>
                  <a:cubicBezTo>
                    <a:pt x="623951" y="0"/>
                    <a:pt x="625856" y="889"/>
                    <a:pt x="626999" y="2413"/>
                  </a:cubicBezTo>
                  <a:lnTo>
                    <a:pt x="622046" y="6350"/>
                  </a:lnTo>
                  <a:lnTo>
                    <a:pt x="622046" y="0"/>
                  </a:lnTo>
                  <a:lnTo>
                    <a:pt x="622046" y="6350"/>
                  </a:lnTo>
                  <a:lnTo>
                    <a:pt x="622046" y="0"/>
                  </a:lnTo>
                  <a:cubicBezTo>
                    <a:pt x="965581" y="0"/>
                    <a:pt x="1243965" y="279400"/>
                    <a:pt x="1243965" y="624078"/>
                  </a:cubicBezTo>
                  <a:lnTo>
                    <a:pt x="1243965" y="1235710"/>
                  </a:lnTo>
                  <a:lnTo>
                    <a:pt x="1237615" y="1235710"/>
                  </a:lnTo>
                  <a:lnTo>
                    <a:pt x="1243965" y="1235710"/>
                  </a:lnTo>
                  <a:cubicBezTo>
                    <a:pt x="1243965" y="1580388"/>
                    <a:pt x="965454" y="1859788"/>
                    <a:pt x="621919" y="1859788"/>
                  </a:cubicBezTo>
                  <a:lnTo>
                    <a:pt x="621919" y="1853438"/>
                  </a:lnTo>
                  <a:lnTo>
                    <a:pt x="621919" y="1847088"/>
                  </a:lnTo>
                  <a:lnTo>
                    <a:pt x="621919" y="1853438"/>
                  </a:lnTo>
                  <a:lnTo>
                    <a:pt x="621919" y="1859788"/>
                  </a:lnTo>
                  <a:cubicBezTo>
                    <a:pt x="278511" y="1859788"/>
                    <a:pt x="0" y="1580261"/>
                    <a:pt x="0" y="1235710"/>
                  </a:cubicBezTo>
                  <a:lnTo>
                    <a:pt x="0" y="624078"/>
                  </a:lnTo>
                  <a:lnTo>
                    <a:pt x="6350" y="624078"/>
                  </a:lnTo>
                  <a:lnTo>
                    <a:pt x="0" y="624078"/>
                  </a:lnTo>
                  <a:moveTo>
                    <a:pt x="12700" y="624078"/>
                  </a:moveTo>
                  <a:lnTo>
                    <a:pt x="12700" y="1235710"/>
                  </a:lnTo>
                  <a:lnTo>
                    <a:pt x="6350" y="1235710"/>
                  </a:lnTo>
                  <a:lnTo>
                    <a:pt x="12700" y="1235710"/>
                  </a:lnTo>
                  <a:cubicBezTo>
                    <a:pt x="12700" y="1573403"/>
                    <a:pt x="285496" y="1847088"/>
                    <a:pt x="622046" y="1847088"/>
                  </a:cubicBezTo>
                  <a:cubicBezTo>
                    <a:pt x="625602" y="1847088"/>
                    <a:pt x="628396" y="1849882"/>
                    <a:pt x="628396" y="1853438"/>
                  </a:cubicBezTo>
                  <a:cubicBezTo>
                    <a:pt x="628396" y="1856994"/>
                    <a:pt x="625602" y="1859788"/>
                    <a:pt x="622046" y="1859788"/>
                  </a:cubicBezTo>
                  <a:cubicBezTo>
                    <a:pt x="618490" y="1859788"/>
                    <a:pt x="615696" y="1856994"/>
                    <a:pt x="615696" y="1853438"/>
                  </a:cubicBezTo>
                  <a:cubicBezTo>
                    <a:pt x="615696" y="1849882"/>
                    <a:pt x="618490" y="1847088"/>
                    <a:pt x="622046" y="1847088"/>
                  </a:cubicBezTo>
                  <a:cubicBezTo>
                    <a:pt x="958596" y="1847088"/>
                    <a:pt x="1231392" y="1573403"/>
                    <a:pt x="1231392" y="1235710"/>
                  </a:cubicBezTo>
                  <a:lnTo>
                    <a:pt x="1231392" y="624078"/>
                  </a:lnTo>
                  <a:lnTo>
                    <a:pt x="1237742" y="624078"/>
                  </a:lnTo>
                  <a:lnTo>
                    <a:pt x="1231392" y="624078"/>
                  </a:lnTo>
                  <a:cubicBezTo>
                    <a:pt x="1231265" y="286385"/>
                    <a:pt x="958469" y="12700"/>
                    <a:pt x="622046" y="12700"/>
                  </a:cubicBezTo>
                  <a:cubicBezTo>
                    <a:pt x="620141" y="12700"/>
                    <a:pt x="618236" y="11811"/>
                    <a:pt x="617093" y="10287"/>
                  </a:cubicBezTo>
                  <a:lnTo>
                    <a:pt x="622046" y="6350"/>
                  </a:lnTo>
                  <a:lnTo>
                    <a:pt x="622046" y="12700"/>
                  </a:lnTo>
                  <a:cubicBezTo>
                    <a:pt x="285496" y="12700"/>
                    <a:pt x="12700" y="286385"/>
                    <a:pt x="12700" y="62407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96715" y="5338019"/>
            <a:ext cx="346322" cy="38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62447" y="5026075"/>
            <a:ext cx="2924919" cy="37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Practical Application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62447" y="5477470"/>
            <a:ext cx="15517416" cy="43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Developed a deployable web application demonstrating immediate utility.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03374" y="6425654"/>
            <a:ext cx="933004" cy="1394818"/>
            <a:chOff x="0" y="0"/>
            <a:chExt cx="1244005" cy="18597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1231265" cy="1847088"/>
            </a:xfrm>
            <a:custGeom>
              <a:avLst/>
              <a:gdLst/>
              <a:ahLst/>
              <a:cxnLst/>
              <a:rect r="r" b="b" t="t" l="l"/>
              <a:pathLst>
                <a:path h="1847088" w="1231265">
                  <a:moveTo>
                    <a:pt x="0" y="617728"/>
                  </a:moveTo>
                  <a:cubicBezTo>
                    <a:pt x="0" y="276606"/>
                    <a:pt x="275590" y="0"/>
                    <a:pt x="615696" y="0"/>
                  </a:cubicBezTo>
                  <a:cubicBezTo>
                    <a:pt x="955802" y="0"/>
                    <a:pt x="1231265" y="276606"/>
                    <a:pt x="1231265" y="617728"/>
                  </a:cubicBezTo>
                  <a:lnTo>
                    <a:pt x="1231265" y="1229360"/>
                  </a:lnTo>
                  <a:cubicBezTo>
                    <a:pt x="1231265" y="1570482"/>
                    <a:pt x="955675" y="1847088"/>
                    <a:pt x="615569" y="1847088"/>
                  </a:cubicBezTo>
                  <a:cubicBezTo>
                    <a:pt x="275463" y="1847088"/>
                    <a:pt x="0" y="1570482"/>
                    <a:pt x="0" y="122936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3965" cy="1859788"/>
            </a:xfrm>
            <a:custGeom>
              <a:avLst/>
              <a:gdLst/>
              <a:ahLst/>
              <a:cxnLst/>
              <a:rect r="r" b="b" t="t" l="l"/>
              <a:pathLst>
                <a:path h="1859788" w="1243965">
                  <a:moveTo>
                    <a:pt x="0" y="624078"/>
                  </a:moveTo>
                  <a:cubicBezTo>
                    <a:pt x="0" y="279400"/>
                    <a:pt x="278511" y="0"/>
                    <a:pt x="622046" y="0"/>
                  </a:cubicBezTo>
                  <a:cubicBezTo>
                    <a:pt x="623951" y="0"/>
                    <a:pt x="625856" y="889"/>
                    <a:pt x="626999" y="2413"/>
                  </a:cubicBezTo>
                  <a:lnTo>
                    <a:pt x="622046" y="6350"/>
                  </a:lnTo>
                  <a:lnTo>
                    <a:pt x="622046" y="0"/>
                  </a:lnTo>
                  <a:lnTo>
                    <a:pt x="622046" y="6350"/>
                  </a:lnTo>
                  <a:lnTo>
                    <a:pt x="622046" y="0"/>
                  </a:lnTo>
                  <a:cubicBezTo>
                    <a:pt x="965581" y="0"/>
                    <a:pt x="1243965" y="279400"/>
                    <a:pt x="1243965" y="624078"/>
                  </a:cubicBezTo>
                  <a:lnTo>
                    <a:pt x="1243965" y="1235710"/>
                  </a:lnTo>
                  <a:lnTo>
                    <a:pt x="1237615" y="1235710"/>
                  </a:lnTo>
                  <a:lnTo>
                    <a:pt x="1243965" y="1235710"/>
                  </a:lnTo>
                  <a:cubicBezTo>
                    <a:pt x="1243965" y="1580388"/>
                    <a:pt x="965454" y="1859788"/>
                    <a:pt x="621919" y="1859788"/>
                  </a:cubicBezTo>
                  <a:lnTo>
                    <a:pt x="621919" y="1853438"/>
                  </a:lnTo>
                  <a:lnTo>
                    <a:pt x="621919" y="1847088"/>
                  </a:lnTo>
                  <a:lnTo>
                    <a:pt x="621919" y="1853438"/>
                  </a:lnTo>
                  <a:lnTo>
                    <a:pt x="621919" y="1859788"/>
                  </a:lnTo>
                  <a:cubicBezTo>
                    <a:pt x="278511" y="1859788"/>
                    <a:pt x="0" y="1580261"/>
                    <a:pt x="0" y="1235710"/>
                  </a:cubicBezTo>
                  <a:lnTo>
                    <a:pt x="0" y="624078"/>
                  </a:lnTo>
                  <a:lnTo>
                    <a:pt x="6350" y="624078"/>
                  </a:lnTo>
                  <a:lnTo>
                    <a:pt x="0" y="624078"/>
                  </a:lnTo>
                  <a:moveTo>
                    <a:pt x="12700" y="624078"/>
                  </a:moveTo>
                  <a:lnTo>
                    <a:pt x="12700" y="1235710"/>
                  </a:lnTo>
                  <a:lnTo>
                    <a:pt x="6350" y="1235710"/>
                  </a:lnTo>
                  <a:lnTo>
                    <a:pt x="12700" y="1235710"/>
                  </a:lnTo>
                  <a:cubicBezTo>
                    <a:pt x="12700" y="1573403"/>
                    <a:pt x="285496" y="1847088"/>
                    <a:pt x="622046" y="1847088"/>
                  </a:cubicBezTo>
                  <a:cubicBezTo>
                    <a:pt x="625602" y="1847088"/>
                    <a:pt x="628396" y="1849882"/>
                    <a:pt x="628396" y="1853438"/>
                  </a:cubicBezTo>
                  <a:cubicBezTo>
                    <a:pt x="628396" y="1856994"/>
                    <a:pt x="625602" y="1859788"/>
                    <a:pt x="622046" y="1859788"/>
                  </a:cubicBezTo>
                  <a:cubicBezTo>
                    <a:pt x="618490" y="1859788"/>
                    <a:pt x="615696" y="1856994"/>
                    <a:pt x="615696" y="1853438"/>
                  </a:cubicBezTo>
                  <a:cubicBezTo>
                    <a:pt x="615696" y="1849882"/>
                    <a:pt x="618490" y="1847088"/>
                    <a:pt x="622046" y="1847088"/>
                  </a:cubicBezTo>
                  <a:cubicBezTo>
                    <a:pt x="958596" y="1847088"/>
                    <a:pt x="1231392" y="1573403"/>
                    <a:pt x="1231392" y="1235710"/>
                  </a:cubicBezTo>
                  <a:lnTo>
                    <a:pt x="1231392" y="624078"/>
                  </a:lnTo>
                  <a:lnTo>
                    <a:pt x="1237742" y="624078"/>
                  </a:lnTo>
                  <a:lnTo>
                    <a:pt x="1231392" y="624078"/>
                  </a:lnTo>
                  <a:cubicBezTo>
                    <a:pt x="1231265" y="286385"/>
                    <a:pt x="958469" y="12700"/>
                    <a:pt x="622046" y="12700"/>
                  </a:cubicBezTo>
                  <a:cubicBezTo>
                    <a:pt x="620141" y="12700"/>
                    <a:pt x="618236" y="11811"/>
                    <a:pt x="617093" y="10287"/>
                  </a:cubicBezTo>
                  <a:lnTo>
                    <a:pt x="622046" y="6350"/>
                  </a:lnTo>
                  <a:lnTo>
                    <a:pt x="622046" y="12700"/>
                  </a:lnTo>
                  <a:cubicBezTo>
                    <a:pt x="285496" y="12700"/>
                    <a:pt x="12700" y="286385"/>
                    <a:pt x="12700" y="62407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96715" y="6954142"/>
            <a:ext cx="346322" cy="38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62447" y="6642199"/>
            <a:ext cx="3146375" cy="37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Foundational Learning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62447" y="7093595"/>
            <a:ext cx="15517416" cy="43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Gained hands-on experience in data science, web development, and cloud deployment.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08136" y="8190736"/>
            <a:ext cx="16671726" cy="38249"/>
            <a:chOff x="0" y="0"/>
            <a:chExt cx="22228968" cy="509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228938" cy="51054"/>
            </a:xfrm>
            <a:custGeom>
              <a:avLst/>
              <a:gdLst/>
              <a:ahLst/>
              <a:cxnLst/>
              <a:rect r="r" b="b" t="t" l="l"/>
              <a:pathLst>
                <a:path h="51054" w="22228938">
                  <a:moveTo>
                    <a:pt x="0" y="0"/>
                  </a:moveTo>
                  <a:lnTo>
                    <a:pt x="22228938" y="0"/>
                  </a:lnTo>
                  <a:lnTo>
                    <a:pt x="22228938" y="51054"/>
                  </a:lnTo>
                  <a:lnTo>
                    <a:pt x="0" y="51054"/>
                  </a:ln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700814" y="8556129"/>
            <a:ext cx="2886224" cy="37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Next Steps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8136" y="9215437"/>
            <a:ext cx="16671726" cy="43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 are committed to exploring advanced techniques and real-world deployment scenarios to enhance this project further.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211" y="-178334"/>
            <a:ext cx="19076423" cy="10643667"/>
            <a:chOff x="0" y="0"/>
            <a:chExt cx="25435230" cy="14191556"/>
          </a:xfrm>
        </p:grpSpPr>
        <p:sp>
          <p:nvSpPr>
            <p:cNvPr name="Freeform 3" id="3">
              <a:hlinkClick r:id="rId3" tooltip="https://github.com/adreerajdas/Adree-Spam-Detection"/>
            </p:cNvPr>
            <p:cNvSpPr/>
            <p:nvPr/>
          </p:nvSpPr>
          <p:spPr>
            <a:xfrm flipH="false" flipV="false" rot="0">
              <a:off x="0" y="0"/>
              <a:ext cx="25435230" cy="14191557"/>
            </a:xfrm>
            <a:custGeom>
              <a:avLst/>
              <a:gdLst/>
              <a:ahLst/>
              <a:cxnLst/>
              <a:rect r="r" b="b" t="t" l="l"/>
              <a:pathLst>
                <a:path h="14191557" w="25435230">
                  <a:moveTo>
                    <a:pt x="0" y="0"/>
                  </a:moveTo>
                  <a:lnTo>
                    <a:pt x="25435230" y="0"/>
                  </a:lnTo>
                  <a:lnTo>
                    <a:pt x="25435230" y="14191557"/>
                  </a:lnTo>
                  <a:lnTo>
                    <a:pt x="0" y="14191557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24834" y="8887140"/>
            <a:ext cx="694997" cy="742319"/>
          </a:xfrm>
          <a:custGeom>
            <a:avLst/>
            <a:gdLst/>
            <a:ahLst/>
            <a:cxnLst/>
            <a:rect r="r" b="b" t="t" l="l"/>
            <a:pathLst>
              <a:path h="742319" w="694997">
                <a:moveTo>
                  <a:pt x="0" y="0"/>
                </a:moveTo>
                <a:lnTo>
                  <a:pt x="694997" y="0"/>
                </a:lnTo>
                <a:lnTo>
                  <a:pt x="694997" y="742320"/>
                </a:lnTo>
                <a:lnTo>
                  <a:pt x="0" y="74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24834" y="2123482"/>
            <a:ext cx="8638332" cy="175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7"/>
              </a:lnSpc>
            </a:pPr>
            <a:r>
              <a:rPr lang="en-US" sz="1112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21237" y="3791945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your time and attention.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1237" y="4438300"/>
            <a:ext cx="9445526" cy="41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Hopefully im </a:t>
            </a: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 to any questions.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4158" y="6173271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Adreeraj 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55557" y="7461529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Technique Polytechnic Institute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62601" y="6817400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Session: 2025–26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91695" y="9008227"/>
            <a:ext cx="7493032" cy="41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https://github.com/adreerajdas/Adree-Spam-Detection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DAG7rOl8GMw</dc:identifier>
  <dcterms:modified xsi:type="dcterms:W3CDTF">2011-08-01T06:04:30Z</dcterms:modified>
  <cp:revision>1</cp:revision>
  <dc:title>Copy of Email-Spam-Detection-with-Python.pptx</dc:title>
</cp:coreProperties>
</file>